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Clarity City"/>
      <p:regular r:id="rId19"/>
      <p:bold r:id="rId20"/>
      <p:italic r:id="rId21"/>
      <p:boldItalic r:id="rId2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43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0:45</a:t>
            </a:r>
          </a:p>
          <a:p>
            <a:endParaRPr/>
          </a:p>
          <a:p>
            <a:r>
              <a:t>Talk track:</a:t>
            </a:r>
          </a:p>
          <a:p>
            <a:r>
              <a:t>Open with the premise: agents are useful because they can act, and that same ability creates the need for an execution boundary. Introduce yourself as a Kata Containers co-founder and frame this talk as a design plus an honest work-in-progress demo—not a finished product launch.</a:t>
            </a:r>
          </a:p>
          <a:p>
            <a:endParaRPr/>
          </a:p>
          <a:p>
            <a:r>
              <a:t>[Sources]</a:t>
            </a:r>
          </a:p>
          <a:p>
            <a:r>
              <a:t>- Speaker-provided biography and project history, July 2026.</a:t>
            </a:r>
          </a:p>
          <a:p>
            <a:r>
              <a:t>- README.md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1:45</a:t>
            </a:r>
          </a:p>
          <a:p>
            <a:endParaRPr/>
          </a:p>
          <a:p>
            <a:r>
              <a:t>Talk track:</a:t>
            </a:r>
          </a:p>
          <a:p>
            <a:r>
              <a:t>Contrast an ordinary application request with an agent loop. The agent can synthesize code, pull packages, call tools, and keep trying. The problem is not that every agent is malicious; the problem is that inputs, generated code, and side effects have different trust levels. The boundary must survive mistakes and adversarial inputs.</a:t>
            </a:r>
          </a:p>
          <a:p>
            <a:endParaRPr/>
          </a:p>
          <a:p>
            <a:r>
              <a:t>[Sources]</a:t>
            </a:r>
          </a:p>
          <a:p>
            <a:r>
              <a:t>- README.md</a:t>
            </a:r>
          </a:p>
          <a:p>
            <a:r>
              <a:t>- Docs/General-Arch.md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1:45</a:t>
            </a:r>
          </a:p>
          <a:p>
            <a:endParaRPr/>
          </a:p>
          <a:p>
            <a:r>
              <a:t>Talk track:</a:t>
            </a:r>
          </a:p>
          <a:p>
            <a:r>
              <a:t>Define sandbox as an end-to-end lifecycle. Stress that policy attachment, readiness, evidence, reset, and deletion all matter. This is why the Kubernetes Agent Sandbox API is relevant: it gives the ecosystem a declarative object around the lifecycle rather than treating a Pod as the whole abstraction.</a:t>
            </a:r>
          </a:p>
          <a:p>
            <a:endParaRPr/>
          </a:p>
          <a:p>
            <a:r>
              <a:t>[Sources]</a:t>
            </a:r>
          </a:p>
          <a:p>
            <a:r>
              <a:t>- https://agent-sandbox.sigs.k8s.io/</a:t>
            </a:r>
          </a:p>
          <a:p>
            <a:r>
              <a:t>- Docs/General-Arch.md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2:00</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Be precise: containers are not weak or obsolete; they are the right packaging and orchestration unit. For agent-generated or untrusted execution, however, a separate guest kernel changes the security boundary. Kata lets us add that boundary without abandoning the container workflow. The cost is real and must be measured.</a:t>
            </a:r>
          </a:p>
          <a:p>
            <a:pPr marL="0" lvl="0" indent="0" algn="l">
              <a:spcBef>
                <a:spcPts val="0"/>
              </a:spcBef>
              <a:spcAft>
                <a:spcPts val="0"/>
              </a:spcAft>
              <a:buNone/>
            </a:pPr>
            <a:endParaRPr/>
          </a:p>
          <a:p>
            <a:pPr marL="0" lvl="0" indent="0" algn="l">
              <a:spcBef>
                <a:spcPts val="0"/>
              </a:spcBef>
              <a:spcAft>
                <a:spcPts val="0"/>
              </a:spcAft>
              <a:buNone/>
            </a:pPr>
            <a:r>
              <a:t>Partner cue: Optionally summarize the shared-kernel versus guest-kernel distinction in Japanese.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https://katacontainers.io/</a:t>
            </a:r>
          </a:p>
          <a:p>
            <a:pPr marL="0" lvl="0" indent="0" algn="l">
              <a:spcBef>
                <a:spcPts val="0"/>
              </a:spcBef>
              <a:spcAft>
                <a:spcPts val="0"/>
              </a:spcAft>
              <a:buNone/>
            </a:pPr>
            <a:r>
              <a:t>- Docs/Minimal-Deployment-AWS.md</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0:20</a:t>
            </a:r>
          </a:p>
          <a:p>
            <a:endParaRPr/>
          </a:p>
          <a:p>
            <a:r>
              <a:t>Talk track:</a:t>
            </a:r>
          </a:p>
          <a:p>
            <a:r>
              <a:t>Transition: no single project solves the whole sandbox problem. The proposal is to compose stable contracts and upstream projects, then make the integration reproducible.</a:t>
            </a:r>
          </a:p>
          <a:p>
            <a:endParaRPr/>
          </a:p>
          <a:p>
            <a:r>
              <a:t>[Sources]</a:t>
            </a:r>
          </a:p>
          <a:p>
            <a:r>
              <a:t>- README.md</a:t>
            </a:r>
          </a:p>
          <a:p>
            <a:r>
              <a:t>- Docs/General-Arch.md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3:00</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Walk top to bottom. Agent Sandbox is the lifecycle API. Kubernetes scheduling and RuntimeClass select the dedicated node pool and runtime. containerd keeps the CRI contract, Nydus supplies the image filesystem, Kata plus Dragonball create the VM-backed sandbox, and KVM or PVM supplies the virtualization substrate. On the right, Dragonfly and Nydus optimize how image data reaches the node. The architectural claim is composability, not a new monolith.</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Docs/General-Arch.md</a:t>
            </a:r>
          </a:p>
          <a:p>
            <a:pPr marL="0" lvl="0" indent="0" algn="l">
              <a:spcBef>
                <a:spcPts val="0"/>
              </a:spcBef>
              <a:spcAft>
                <a:spcPts val="0"/>
              </a:spcAft>
              <a:buNone/>
            </a:pPr>
            <a:r>
              <a:t>- Docs/Minimal-Deployment-AWS.md</a:t>
            </a:r>
          </a:p>
          <a:p>
            <a:pPr marL="0" lvl="0" indent="0" algn="l">
              <a:spcBef>
                <a:spcPts val="0"/>
              </a:spcBef>
              <a:spcAft>
                <a:spcPts val="0"/>
              </a:spcAft>
              <a:buNone/>
            </a:pPr>
            <a:r>
              <a:t>- https://agent-sandbox.sigs.k8s.io/</a:t>
            </a:r>
          </a:p>
          <a:p>
            <a:pPr marL="0" lvl="0" indent="0" algn="l">
              <a:spcBef>
                <a:spcPts val="0"/>
              </a:spcBef>
              <a:spcAft>
                <a:spcPts val="0"/>
              </a:spcAft>
              <a:buNone/>
            </a:pPr>
            <a:r>
              <a:t>- https://katacontainers.io/</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2:00</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Explain why the design keeps containerd and CRI. Kubernetes already has the control-plane contract we need. RuntimeClass selects the Kata handler; labels, taints, and tolerations prevent accidental placement; the Agent Sandbox object manages lifecycle above it. The dedicated sandbox pool is a security and operability boundary.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https://kubernetes.io/blog/2016/12/container-runtime-interface-cri-in-kubernetes/</a:t>
            </a:r>
          </a:p>
          <a:p>
            <a:pPr marL="0" lvl="0" indent="0" algn="l">
              <a:spcBef>
                <a:spcPts val="0"/>
              </a:spcBef>
              <a:spcAft>
                <a:spcPts val="0"/>
              </a:spcAft>
              <a:buNone/>
            </a:pPr>
            <a:r>
              <a:t>- Docs/Minimal-Deployment-AWS.md</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2:00</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Kata supplies the guest-kernel boundary while retaining Kubernetes and OCI semantics. Dragonball is the VMM path in this design. For AWS, use supported nested KVM first. PVM is not presented as automatically faster or cheaper; it is an experimental portability option when the host does not expose virtualization extensions. Keep the two pools operationally separate.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https://katacontainers.io/</a:t>
            </a:r>
          </a:p>
          <a:p>
            <a:pPr marL="0" lvl="0" indent="0" algn="l">
              <a:spcBef>
                <a:spcPts val="0"/>
              </a:spcBef>
              <a:spcAft>
                <a:spcPts val="0"/>
              </a:spcAft>
              <a:buNone/>
            </a:pPr>
            <a:r>
              <a:t>- Docs/PVM-AWS-Evaluation.md</a:t>
            </a:r>
          </a:p>
          <a:p>
            <a:pPr marL="0" lvl="0" indent="0" algn="l">
              <a:spcBef>
                <a:spcPts val="0"/>
              </a:spcBef>
              <a:spcAft>
                <a:spcPts val="0"/>
              </a:spcAft>
              <a:buNone/>
            </a:pPr>
            <a:r>
              <a:t>- https://lpc.events/event/18/contributions/1766/</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1:45</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Explain the latency chain: a fast VMM does not help if every sandbox must eagerly download and unpack a large image. Nydus enables on-demand reads through the containerd snapshotter. Dragonfly addresses repeated distribution at cluster scale. The minimal AWS proof of concept deliberately validates Kata and Nydus first, then adds Dragonfly when the basic path is reproducible.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https://nydus.dev/</a:t>
            </a:r>
          </a:p>
          <a:p>
            <a:pPr marL="0" lvl="0" indent="0" algn="l">
              <a:spcBef>
                <a:spcPts val="0"/>
              </a:spcBef>
              <a:spcAft>
                <a:spcPts val="0"/>
              </a:spcAft>
              <a:buNone/>
            </a:pPr>
            <a:r>
              <a:t>- https://d7y.io/</a:t>
            </a:r>
          </a:p>
          <a:p>
            <a:pPr marL="0" lvl="0" indent="0" algn="l">
              <a:spcBef>
                <a:spcPts val="0"/>
              </a:spcBef>
              <a:spcAft>
                <a:spcPts val="0"/>
              </a:spcAft>
              <a:buNone/>
            </a:pPr>
            <a:r>
              <a:t>- Docs/Minimal-Deployment-AWS.md</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2:00</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Follow the six steps. The important branch is not visible as a separate arrow: any failure inside bootstrap, run, readiness, or evidence collection still enters cleanup and node stop. Clarify that today's snapshot is a Kubernetes resource snapshot for diagnosis, not a process, filesystem, or VM checkpoint. A true checkpoint remains future work.</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tools/xolis_aws_lab.py</a:t>
            </a:r>
          </a:p>
          <a:p>
            <a:pPr marL="0" lvl="0" indent="0" algn="l">
              <a:spcBef>
                <a:spcPts val="0"/>
              </a:spcBef>
              <a:spcAft>
                <a:spcPts val="0"/>
              </a:spcAft>
              <a:buNone/>
            </a:pPr>
            <a:r>
              <a:t>- Docs/AWS-Lab-Tooling.md</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1:30</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Describe the deliberate tooling split. OpenTofu owns persistent cloud infrastructure and state. The Python CLI owns short-lived, imperative runtime actions and assertions. This avoids forcing dynamic test logic into infrastructure state while still making cleanup deterministic and auditable.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Docs/AWS-Lab-Tooling.md</a:t>
            </a:r>
          </a:p>
          <a:p>
            <a:pPr marL="0" lvl="0" indent="0" algn="l">
              <a:spcBef>
                <a:spcPts val="0"/>
              </a:spcBef>
              <a:spcAft>
                <a:spcPts val="0"/>
              </a:spcAft>
              <a:buNone/>
            </a:pPr>
            <a:r>
              <a:t>- tools/xolis_aws_lab.py</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4:30</a:t>
            </a:r>
          </a:p>
          <a:p>
            <a:endParaRPr/>
          </a:p>
          <a:p>
            <a:r>
              <a:t>Talk track:</a:t>
            </a:r>
          </a:p>
          <a:p>
            <a:r>
              <a:t>Run the dry-run first so the audience can see the complete intended sequence without AWS credentials or manifests. If the live environment is available, run cycle run and narrate node scale-up, kubeconfig, bootstrap, workload readiness, evidence collection, deletion, and scale-to-zero. If the live path is unavailable, the dry-run remains a valid demonstration of the orchestration contract and failure-safe order.</a:t>
            </a:r>
          </a:p>
          <a:p>
            <a:endParaRPr/>
          </a:p>
          <a:p>
            <a:r>
              <a:t>Partner cue: Optionally narrate the live command output in Japanese while the primary speaker explains the lifecycle in English.</a:t>
            </a:r>
          </a:p>
          <a:p>
            <a:endParaRPr/>
          </a:p>
          <a:p>
            <a:r>
              <a:t>[Sources]</a:t>
            </a:r>
          </a:p>
          <a:p>
            <a:r>
              <a:t>- tools/README.md</a:t>
            </a:r>
          </a:p>
          <a:p>
            <a:r>
              <a:t>- tools/xolis_aws_lab.py</a:t>
            </a:r>
          </a:p>
          <a:p>
            <a:r>
              <a:t>- tools/xolis_aws_lab.example.json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1:30</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State the implementation boundary plainly. The repository contains the architecture, AWS deployment design, orchestration tool, dry-run behavior, and offline tests. It does not yet contain the full EKS modules, custom AMI pipeline, version-pinned runtime manifests, a real checkpoint implementation, or benchmark results. Invite the audience to judge the design by reproducible evidence as those pieces land.</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README.md</a:t>
            </a:r>
          </a:p>
          <a:p>
            <a:pPr marL="0" lvl="0" indent="0" algn="l">
              <a:spcBef>
                <a:spcPts val="0"/>
              </a:spcBef>
              <a:spcAft>
                <a:spcPts val="0"/>
              </a:spcAft>
              <a:buNone/>
            </a:pPr>
            <a:r>
              <a:t>- Docs/AWS-Lab-Tooling.md</a:t>
            </a:r>
          </a:p>
          <a:p>
            <a:pPr marL="0" lvl="0" indent="0" algn="l">
              <a:spcBef>
                <a:spcPts val="0"/>
              </a:spcBef>
              <a:spcAft>
                <a:spcPts val="0"/>
              </a:spcAft>
              <a:buNone/>
            </a:pPr>
            <a:r>
              <a:t>- Docs/Minimal-Deployment-AWS.md</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2:00</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Use this slide to establish continuity, not nostalgia. Your teams worked on the original CRI implementation, announced Kata Containers with Intel and the OpenInfra Foundation in 2017, contributed Nydus and PVM, and maintain Dragonfly. The new problem is to compose those upstream capabilities around the agent sandbox lifecycle. Xolis is the integration and validation layer.</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Speaker-provided biography and project history, July 2026.</a:t>
            </a:r>
          </a:p>
          <a:p>
            <a:pPr marL="0" lvl="0" indent="0" algn="l">
              <a:spcBef>
                <a:spcPts val="0"/>
              </a:spcBef>
              <a:spcAft>
                <a:spcPts val="0"/>
              </a:spcAft>
              <a:buNone/>
            </a:pPr>
            <a:r>
              <a:t>- https://katacontainers.io/</a:t>
            </a:r>
          </a:p>
          <a:p>
            <a:pPr marL="0" lvl="0" indent="0" algn="l">
              <a:spcBef>
                <a:spcPts val="0"/>
              </a:spcBef>
              <a:spcAft>
                <a:spcPts val="0"/>
              </a:spcAft>
              <a:buNone/>
            </a:pPr>
            <a:r>
              <a:t>- https://d7y.io/</a:t>
            </a:r>
          </a:p>
          <a:p>
            <a:pPr marL="0" lvl="0" indent="0" algn="l">
              <a:spcBef>
                <a:spcPts val="0"/>
              </a:spcBef>
              <a:spcAft>
                <a:spcPts val="0"/>
              </a:spcAft>
              <a:buNone/>
            </a:pPr>
            <a:r>
              <a:t>- https://nydus.dev/</a:t>
            </a:r>
          </a:p>
          <a:p>
            <a:pPr marL="0" lvl="0" indent="0" algn="l">
              <a:spcBef>
                <a:spcPts val="0"/>
              </a:spcBef>
              <a:spcAft>
                <a:spcPts val="0"/>
              </a:spcAft>
              <a:buNone/>
            </a:pPr>
            <a:r>
              <a:t>- https://lpc.events/event/18/contributions/1766/</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1:30</a:t>
            </a:r>
          </a:p>
          <a:p>
            <a:pPr marL="0" lvl="0" indent="0" algn="l">
              <a:spcBef>
                <a:spcPts val="0"/>
              </a:spcBef>
              <a:spcAft>
                <a:spcPts val="0"/>
              </a:spcAft>
              <a:buNone/>
            </a:pPr>
            <a:endParaRPr/>
          </a:p>
          <a:p>
            <a:pPr marL="0" lvl="0" indent="0" algn="l">
              <a:spcBef>
                <a:spcPts val="0"/>
              </a:spcBef>
              <a:spcAft>
                <a:spcPts val="0"/>
              </a:spcAft>
              <a:buNone/>
            </a:pPr>
            <a:r>
              <a:t>Talk track:</a:t>
            </a:r>
          </a:p>
          <a:p>
            <a:pPr marL="0" lvl="0" indent="0" algn="l">
              <a:spcBef>
                <a:spcPts val="0"/>
              </a:spcBef>
              <a:spcAft>
                <a:spcPts val="0"/>
              </a:spcAft>
              <a:buNone/>
            </a:pPr>
            <a:r>
              <a:t>Close the design section with contribution criteria. Prefer upstream contracts, keep layers replaceable, isolate special runtime capacity, and treat cleanup as correctness. The highest-value contributions now are deployable modules, version-pinned manifests, runtime qualification, and measurements that compare startup, density, reliability, and total cost.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 README.md</a:t>
            </a:r>
          </a:p>
          <a:p>
            <a:pPr marL="0" lvl="0" indent="0" algn="l">
              <a:spcBef>
                <a:spcPts val="0"/>
              </a:spcBef>
              <a:spcAft>
                <a:spcPts val="0"/>
              </a:spcAft>
              <a:buNone/>
            </a:pPr>
            <a:r>
              <a:t>- Docs/Minimal-Deployment-AWS.md</a:t>
            </a:r>
          </a:p>
          <a:p>
            <a:pPr marL="0" lvl="0" indent="0" algn="l">
              <a:spcBef>
                <a:spcPts val="0"/>
              </a:spcBef>
              <a:spcAft>
                <a:spcPts val="0"/>
              </a:spcAft>
              <a:buNone/>
            </a:pPr>
            <a:r>
              <a:t>- Docs/PVM-AWS-Evaluation.md</a:t>
            </a:r>
          </a:p>
          <a:p>
            <a:pPr marL="0" lvl="0" indent="0" algn="l">
              <a:spcBef>
                <a:spcPts val="0"/>
              </a:spcBef>
              <a:spcAft>
                <a:spcPts val="0"/>
              </a:spcAft>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1:45</a:t>
            </a:r>
          </a:p>
          <a:p>
            <a:endParaRPr/>
          </a:p>
          <a:p>
            <a:r>
              <a:t>Talk track:</a:t>
            </a:r>
          </a:p>
          <a:p>
            <a:r>
              <a:t>Resolve the opening: agentic applications need stronger execution boundaries, but the cloud-native ecosystem already contains most of the required primitives. The work is to compose, validate, measure, and upstream the missing integration. Invite questions and contributors at the repository URL.</a:t>
            </a:r>
          </a:p>
          <a:p>
            <a:endParaRPr/>
          </a:p>
          <a:p>
            <a:r>
              <a:t>Partner cue: Optionally give a short Japanese recap and invite Japanese-language questions.</a:t>
            </a:r>
          </a:p>
          <a:p>
            <a:endParaRPr/>
          </a:p>
          <a:p>
            <a:r>
              <a:t>[Sources]</a:t>
            </a:r>
          </a:p>
          <a:p>
            <a:r>
              <a:t>- https://github.com/gnawux/xolis</a:t>
            </a:r>
          </a:p>
          <a:p>
            <a:r>
              <a:t>- README.md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3939D9"/>
        </a:solidFill>
        <a:effectLst/>
      </p:bgPr>
    </p:bg>
    <p:spTree>
      <p:nvGrpSpPr>
        <p:cNvPr id="1" name=""/>
        <p:cNvGrpSpPr/>
        <p:nvPr/>
      </p:nvGrpSpPr>
      <p:grpSpPr>
        <a:xfrm>
          <a:off x="0" y="0"/>
          <a:ext cx="0" cy="0"/>
          <a:chOff x="0" y="0"/>
          <a:chExt cx="0" cy="0"/>
        </a:xfrm>
      </p:grpSpPr>
      <p:pic>
        <p:nvPicPr>
          <p:cNvPr id="14" name="Picture 2"/>
          <p:cNvPicPr>
            <a:picLocks noChangeAspect="1"/>
          </p:cNvPicPr>
          <p:nvPr/>
        </p:nvPicPr>
        <p:blipFill>
          <a:blip r:embed="rId2"/>
          <a:stretch>
            <a:fillRect/>
          </a:stretch>
        </p:blipFill>
        <p:spPr>
          <a:xfrm>
            <a:off x="0" y="1037627"/>
            <a:ext cx="9144000" cy="4572000"/>
          </a:xfrm>
          <a:prstGeom prst="rect">
            <a:avLst/>
          </a:prstGeom>
        </p:spPr>
      </p:pic>
      <p:sp>
        <p:nvSpPr>
          <p:cNvPr id="10" name="Google Shape;10;p2">
            <a:extLst>
              <a:ext uri="{FF2B5EF4-FFF2-40B4-BE49-F238E27FC236}">
                <a16:creationId xmlns:a16="http://schemas.microsoft.com/office/drawing/2014/main" id="{79079EC1-4ED9-47BD-A340-7E3177099A99}"/>
              </a:ext>
            </a:extLst>
          </p:cNvPr>
          <p:cNvSpPr>
            <a:spLocks noGrp="1"/>
          </p:cNvSpPr>
          <p:nvPr>
            <p:ph type="ctrTitle"/>
          </p:nvPr>
        </p:nvSpPr>
        <p:spPr>
          <a:xfrm>
            <a:off x="311215" y="1251446"/>
            <a:ext cx="8010201" cy="1455178"/>
          </a:xfrm>
          <a:prstGeom prst="rect">
            <a:avLst/>
          </a:prstGeom>
          <a:noFill/>
        </p:spPr>
        <p:txBody>
          <a:bodyPr spcFirstLastPara="1" wrap="square" lIns="0" tIns="0" rIns="0" bIns="0" anchor="ctr">
            <a:noAutofit/>
          </a:bodyPr>
          <a:lstStyle>
            <a:lvl1pPr algn="l">
              <a:spcBef>
                <a:spcPts val="0"/>
              </a:spcBef>
              <a:spcAft>
                <a:spcPts val="0"/>
              </a:spcAft>
              <a:buClr>
                <a:schemeClr val="lt1"/>
              </a:buClr>
              <a:buSzPts val="4800"/>
              <a:buNone/>
              <a:defRPr sz="4800" b="1" i="0">
                <a:solidFill>
                  <a:schemeClr val="bg1"/>
                </a:solidFill>
                <a:latin typeface="Clarity City"/>
                <a:ea typeface="Clarity City"/>
                <a:cs typeface="Clarity City"/>
              </a:defRPr>
            </a:lvl1pPr>
            <a:lvl2pPr algn="ctr">
              <a:spcBef>
                <a:spcPts val="0"/>
              </a:spcBef>
              <a:spcAft>
                <a:spcPts val="0"/>
              </a:spcAft>
              <a:buClr>
                <a:schemeClr val="lt1"/>
              </a:buClr>
              <a:buSzPts val="4800"/>
              <a:buNone/>
              <a:defRPr sz="4800">
                <a:solidFill>
                  <a:schemeClr val="lt1"/>
                </a:solidFill>
              </a:defRPr>
            </a:lvl2pPr>
            <a:lvl3pPr algn="ctr">
              <a:spcBef>
                <a:spcPts val="0"/>
              </a:spcBef>
              <a:spcAft>
                <a:spcPts val="0"/>
              </a:spcAft>
              <a:buClr>
                <a:schemeClr val="lt1"/>
              </a:buClr>
              <a:buSzPts val="4800"/>
              <a:buNone/>
              <a:defRPr sz="4800">
                <a:solidFill>
                  <a:schemeClr val="lt1"/>
                </a:solidFill>
              </a:defRPr>
            </a:lvl3pPr>
            <a:lvl4pPr algn="ctr">
              <a:spcBef>
                <a:spcPts val="0"/>
              </a:spcBef>
              <a:spcAft>
                <a:spcPts val="0"/>
              </a:spcAft>
              <a:buClr>
                <a:schemeClr val="lt1"/>
              </a:buClr>
              <a:buSzPts val="4800"/>
              <a:buNone/>
              <a:defRPr sz="4800">
                <a:solidFill>
                  <a:schemeClr val="lt1"/>
                </a:solidFill>
              </a:defRPr>
            </a:lvl4pPr>
            <a:lvl5pPr algn="ctr">
              <a:spcBef>
                <a:spcPts val="0"/>
              </a:spcBef>
              <a:spcAft>
                <a:spcPts val="0"/>
              </a:spcAft>
              <a:buClr>
                <a:schemeClr val="lt1"/>
              </a:buClr>
              <a:buSzPts val="4800"/>
              <a:buNone/>
              <a:defRPr sz="4800">
                <a:solidFill>
                  <a:schemeClr val="lt1"/>
                </a:solidFill>
              </a:defRPr>
            </a:lvl5pPr>
            <a:lvl6pPr algn="ctr">
              <a:spcBef>
                <a:spcPts val="0"/>
              </a:spcBef>
              <a:spcAft>
                <a:spcPts val="0"/>
              </a:spcAft>
              <a:buClr>
                <a:schemeClr val="lt1"/>
              </a:buClr>
              <a:buSzPts val="4800"/>
              <a:buNone/>
              <a:defRPr sz="4800">
                <a:solidFill>
                  <a:schemeClr val="lt1"/>
                </a:solidFill>
              </a:defRPr>
            </a:lvl6pPr>
            <a:lvl7pPr algn="ctr">
              <a:spcBef>
                <a:spcPts val="0"/>
              </a:spcBef>
              <a:spcAft>
                <a:spcPts val="0"/>
              </a:spcAft>
              <a:buClr>
                <a:schemeClr val="lt1"/>
              </a:buClr>
              <a:buSzPts val="4800"/>
              <a:buNone/>
              <a:defRPr sz="4800">
                <a:solidFill>
                  <a:schemeClr val="lt1"/>
                </a:solidFill>
              </a:defRPr>
            </a:lvl7pPr>
            <a:lvl8pPr algn="ctr">
              <a:spcBef>
                <a:spcPts val="0"/>
              </a:spcBef>
              <a:spcAft>
                <a:spcPts val="0"/>
              </a:spcAft>
              <a:buClr>
                <a:schemeClr val="lt1"/>
              </a:buClr>
              <a:buSzPts val="4800"/>
              <a:buNone/>
              <a:defRPr sz="4800">
                <a:solidFill>
                  <a:schemeClr val="lt1"/>
                </a:solidFill>
              </a:defRPr>
            </a:lvl8pPr>
            <a:lvl9pPr algn="ctr">
              <a:spcBef>
                <a:spcPts val="0"/>
              </a:spcBef>
              <a:spcAft>
                <a:spcPts val="0"/>
              </a:spcAft>
              <a:buClr>
                <a:schemeClr val="lt1"/>
              </a:buClr>
              <a:buSzPts val="4800"/>
              <a:buNone/>
              <a:defRPr sz="4800">
                <a:solidFill>
                  <a:schemeClr val="lt1"/>
                </a:solidFill>
              </a:defRPr>
            </a:lvl9pPr>
          </a:lstStyle>
          <a:p>
            <a:endParaRPr/>
          </a:p>
        </p:txBody>
      </p:sp>
      <p:sp>
        <p:nvSpPr>
          <p:cNvPr id="11" name="Google Shape;11;p2">
            <a:extLst>
              <a:ext uri="{FF2B5EF4-FFF2-40B4-BE49-F238E27FC236}">
                <a16:creationId xmlns:a16="http://schemas.microsoft.com/office/drawing/2014/main" id="{1B5C7A60-A27A-4365-9569-7A7C5ACAE1CD}"/>
              </a:ext>
            </a:extLst>
          </p:cNvPr>
          <p:cNvSpPr>
            <a:spLocks noGrp="1"/>
          </p:cNvSpPr>
          <p:nvPr>
            <p:ph type="subTitle" idx="1"/>
          </p:nvPr>
        </p:nvSpPr>
        <p:spPr>
          <a:xfrm>
            <a:off x="311214" y="2706624"/>
            <a:ext cx="8010201" cy="609254"/>
          </a:xfrm>
          <a:prstGeom prst="rect">
            <a:avLst/>
          </a:prstGeom>
          <a:noFill/>
        </p:spPr>
        <p:txBody>
          <a:bodyPr spcFirstLastPara="1" wrap="square" lIns="0" tIns="0" rIns="0" bIns="0" anchor="ctr">
            <a:noAutofit/>
          </a:bodyPr>
          <a:lstStyle>
            <a:lvl1pPr algn="l">
              <a:lnSpc>
                <a:spcPct val="100000"/>
              </a:lnSpc>
              <a:spcBef>
                <a:spcPts val="0"/>
              </a:spcBef>
              <a:spcAft>
                <a:spcPts val="0"/>
              </a:spcAft>
              <a:buClr>
                <a:schemeClr val="lt1"/>
              </a:buClr>
              <a:buSzPts val="2800"/>
              <a:buNone/>
              <a:defRPr sz="2800" b="1" i="0">
                <a:solidFill>
                  <a:schemeClr val="bg1"/>
                </a:solidFill>
                <a:latin typeface="Clarity City"/>
                <a:ea typeface="Clarity City"/>
                <a:cs typeface="Clarity City"/>
              </a:defRPr>
            </a:lvl1pPr>
            <a:lvl2pPr algn="ctr">
              <a:lnSpc>
                <a:spcPct val="100000"/>
              </a:lnSpc>
              <a:spcBef>
                <a:spcPts val="0"/>
              </a:spcBef>
              <a:spcAft>
                <a:spcPts val="0"/>
              </a:spcAft>
              <a:buClr>
                <a:schemeClr val="lt1"/>
              </a:buClr>
              <a:buSzPts val="2800"/>
              <a:buNone/>
              <a:defRPr sz="2800">
                <a:solidFill>
                  <a:schemeClr val="lt1"/>
                </a:solidFill>
              </a:defRPr>
            </a:lvl2pPr>
            <a:lvl3pPr algn="ctr">
              <a:lnSpc>
                <a:spcPct val="100000"/>
              </a:lnSpc>
              <a:spcBef>
                <a:spcPts val="0"/>
              </a:spcBef>
              <a:spcAft>
                <a:spcPts val="0"/>
              </a:spcAft>
              <a:buClr>
                <a:schemeClr val="lt1"/>
              </a:buClr>
              <a:buSzPts val="2800"/>
              <a:buNone/>
              <a:defRPr sz="2800">
                <a:solidFill>
                  <a:schemeClr val="lt1"/>
                </a:solidFill>
              </a:defRPr>
            </a:lvl3pPr>
            <a:lvl4pPr algn="ctr">
              <a:lnSpc>
                <a:spcPct val="100000"/>
              </a:lnSpc>
              <a:spcBef>
                <a:spcPts val="0"/>
              </a:spcBef>
              <a:spcAft>
                <a:spcPts val="0"/>
              </a:spcAft>
              <a:buClr>
                <a:schemeClr val="lt1"/>
              </a:buClr>
              <a:buSzPts val="2800"/>
              <a:buNone/>
              <a:defRPr sz="2800">
                <a:solidFill>
                  <a:schemeClr val="lt1"/>
                </a:solidFill>
              </a:defRPr>
            </a:lvl4pPr>
            <a:lvl5pPr algn="ctr">
              <a:lnSpc>
                <a:spcPct val="100000"/>
              </a:lnSpc>
              <a:spcBef>
                <a:spcPts val="0"/>
              </a:spcBef>
              <a:spcAft>
                <a:spcPts val="0"/>
              </a:spcAft>
              <a:buClr>
                <a:schemeClr val="lt1"/>
              </a:buClr>
              <a:buSzPts val="2800"/>
              <a:buNone/>
              <a:defRPr sz="2800">
                <a:solidFill>
                  <a:schemeClr val="lt1"/>
                </a:solidFill>
              </a:defRPr>
            </a:lvl5pPr>
            <a:lvl6pPr algn="ctr">
              <a:lnSpc>
                <a:spcPct val="100000"/>
              </a:lnSpc>
              <a:spcBef>
                <a:spcPts val="0"/>
              </a:spcBef>
              <a:spcAft>
                <a:spcPts val="0"/>
              </a:spcAft>
              <a:buClr>
                <a:schemeClr val="lt1"/>
              </a:buClr>
              <a:buSzPts val="2800"/>
              <a:buNone/>
              <a:defRPr sz="2800">
                <a:solidFill>
                  <a:schemeClr val="lt1"/>
                </a:solidFill>
              </a:defRPr>
            </a:lvl6pPr>
            <a:lvl7pPr algn="ctr">
              <a:lnSpc>
                <a:spcPct val="100000"/>
              </a:lnSpc>
              <a:spcBef>
                <a:spcPts val="0"/>
              </a:spcBef>
              <a:spcAft>
                <a:spcPts val="0"/>
              </a:spcAft>
              <a:buClr>
                <a:schemeClr val="lt1"/>
              </a:buClr>
              <a:buSzPts val="2800"/>
              <a:buNone/>
              <a:defRPr sz="2800">
                <a:solidFill>
                  <a:schemeClr val="lt1"/>
                </a:solidFill>
              </a:defRPr>
            </a:lvl7pPr>
            <a:lvl8pPr algn="ctr">
              <a:lnSpc>
                <a:spcPct val="100000"/>
              </a:lnSpc>
              <a:spcBef>
                <a:spcPts val="0"/>
              </a:spcBef>
              <a:spcAft>
                <a:spcPts val="0"/>
              </a:spcAft>
              <a:buClr>
                <a:schemeClr val="lt1"/>
              </a:buClr>
              <a:buSzPts val="2800"/>
              <a:buNone/>
              <a:defRPr sz="2800">
                <a:solidFill>
                  <a:schemeClr val="lt1"/>
                </a:solidFill>
              </a:defRPr>
            </a:lvl8pPr>
            <a:lvl9pPr algn="ctr">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4" name="TextBox 3">
            <a:extLst>
              <a:ext uri="{FF2B5EF4-FFF2-40B4-BE49-F238E27FC236}">
                <a16:creationId xmlns:a16="http://schemas.microsoft.com/office/drawing/2014/main" id="{B4EE2169-F3E1-4E05-1002-C08EEFA96A24}"/>
              </a:ext>
            </a:extLst>
          </p:cNvPr>
          <p:cNvSpPr>
            <a:spLocks noGrp="1"/>
          </p:cNvSpPr>
          <p:nvPr/>
        </p:nvSpPr>
        <p:spPr>
          <a:xfrm>
            <a:off x="5715812" y="178532"/>
            <a:ext cx="3111253" cy="307777"/>
          </a:xfrm>
          <a:prstGeom prst="rect">
            <a:avLst/>
          </a:prstGeom>
          <a:noFill/>
        </p:spPr>
        <p:txBody>
          <a:bodyPr wrap="square">
            <a:spAutoFit/>
          </a:bodyPr>
          <a:lstStyle/>
          <a:p>
            <a:pPr algn="r">
              <a:buNone/>
            </a:pPr>
            <a:r>
              <a:rPr sz="1400" b="0" i="0">
                <a:solidFill>
                  <a:schemeClr val="bg1"/>
                </a:solidFill>
                <a:latin typeface="Clarity City"/>
                <a:ea typeface="Clarity City"/>
                <a:cs typeface="Clarity City"/>
              </a:rPr>
              <a:t>#KubeCon #CloudNativeCon</a:t>
            </a:r>
          </a:p>
        </p:txBody>
      </p:sp>
      <p:pic>
        <p:nvPicPr>
          <p:cNvPr id="18" name="Graphic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reserve="1">
  <p:cSld name="1_Section header">
    <p:bg>
      <p:bgPr>
        <a:solidFill>
          <a:srgbClr val="3939D9"/>
        </a:solidFill>
        <a:effectLst/>
      </p:bgPr>
    </p:bg>
    <p:spTree>
      <p:nvGrpSpPr>
        <p:cNvPr id="1" name=""/>
        <p:cNvGrpSpPr/>
        <p:nvPr/>
      </p:nvGrpSpPr>
      <p:grpSpPr>
        <a:xfrm>
          <a:off x="0" y="0"/>
          <a:ext cx="0" cy="0"/>
          <a:chOff x="0" y="0"/>
          <a:chExt cx="0" cy="0"/>
        </a:xfrm>
      </p:grpSpPr>
      <p:pic>
        <p:nvPicPr>
          <p:cNvPr id="21" name="Picture 3"/>
          <p:cNvPicPr>
            <a:picLocks noChangeAspect="1"/>
          </p:cNvPicPr>
          <p:nvPr/>
        </p:nvPicPr>
        <p:blipFill>
          <a:blip r:embed="rId2"/>
          <a:stretch>
            <a:fillRect/>
          </a:stretch>
        </p:blipFill>
        <p:spPr>
          <a:xfrm>
            <a:off x="0" y="1037627"/>
            <a:ext cx="9144000" cy="4572000"/>
          </a:xfrm>
          <a:prstGeom prst="rect">
            <a:avLst/>
          </a:prstGeom>
        </p:spPr>
      </p:pic>
      <p:sp>
        <p:nvSpPr>
          <p:cNvPr id="18" name="Google Shape;18;p3">
            <a:extLst>
              <a:ext uri="{FF2B5EF4-FFF2-40B4-BE49-F238E27FC236}">
                <a16:creationId xmlns:a16="http://schemas.microsoft.com/office/drawing/2014/main" id="{65C0DF6F-04BA-49D2-8411-0F282C4242AF}"/>
              </a:ext>
            </a:extLst>
          </p:cNvPr>
          <p:cNvSpPr>
            <a:spLocks noGrp="1"/>
          </p:cNvSpPr>
          <p:nvPr>
            <p:ph type="title"/>
          </p:nvPr>
        </p:nvSpPr>
        <p:spPr>
          <a:xfrm>
            <a:off x="311700" y="1940538"/>
            <a:ext cx="8520600" cy="841800"/>
          </a:xfrm>
          <a:prstGeom prst="rect">
            <a:avLst/>
          </a:prstGeom>
        </p:spPr>
        <p:txBody>
          <a:bodyPr spcFirstLastPara="1" wrap="square" lIns="0" tIns="0" rIns="0" bIns="0" anchor="ctr">
            <a:noAutofit/>
          </a:bodyPr>
          <a:lstStyle>
            <a:lvl1pPr algn="l">
              <a:spcBef>
                <a:spcPts val="0"/>
              </a:spcBef>
              <a:spcAft>
                <a:spcPts val="0"/>
              </a:spcAft>
              <a:buClr>
                <a:schemeClr val="lt1"/>
              </a:buClr>
              <a:buSzPts val="3600"/>
              <a:buNone/>
              <a:defRPr sz="3600">
                <a:solidFill>
                  <a:schemeClr val="bg1"/>
                </a:solidFill>
              </a:defRPr>
            </a:lvl1pPr>
            <a:lvl2pPr algn="ctr">
              <a:spcBef>
                <a:spcPts val="0"/>
              </a:spcBef>
              <a:spcAft>
                <a:spcPts val="0"/>
              </a:spcAft>
              <a:buClr>
                <a:schemeClr val="lt1"/>
              </a:buClr>
              <a:buSzPts val="3600"/>
              <a:buNone/>
              <a:defRPr sz="3600">
                <a:solidFill>
                  <a:schemeClr val="lt1"/>
                </a:solidFill>
              </a:defRPr>
            </a:lvl2pPr>
            <a:lvl3pPr algn="ctr">
              <a:spcBef>
                <a:spcPts val="0"/>
              </a:spcBef>
              <a:spcAft>
                <a:spcPts val="0"/>
              </a:spcAft>
              <a:buClr>
                <a:schemeClr val="lt1"/>
              </a:buClr>
              <a:buSzPts val="3600"/>
              <a:buNone/>
              <a:defRPr sz="3600">
                <a:solidFill>
                  <a:schemeClr val="lt1"/>
                </a:solidFill>
              </a:defRPr>
            </a:lvl3pPr>
            <a:lvl4pPr algn="ctr">
              <a:spcBef>
                <a:spcPts val="0"/>
              </a:spcBef>
              <a:spcAft>
                <a:spcPts val="0"/>
              </a:spcAft>
              <a:buClr>
                <a:schemeClr val="lt1"/>
              </a:buClr>
              <a:buSzPts val="3600"/>
              <a:buNone/>
              <a:defRPr sz="3600">
                <a:solidFill>
                  <a:schemeClr val="lt1"/>
                </a:solidFill>
              </a:defRPr>
            </a:lvl4pPr>
            <a:lvl5pPr algn="ctr">
              <a:spcBef>
                <a:spcPts val="0"/>
              </a:spcBef>
              <a:spcAft>
                <a:spcPts val="0"/>
              </a:spcAft>
              <a:buClr>
                <a:schemeClr val="lt1"/>
              </a:buClr>
              <a:buSzPts val="3600"/>
              <a:buNone/>
              <a:defRPr sz="3600">
                <a:solidFill>
                  <a:schemeClr val="lt1"/>
                </a:solidFill>
              </a:defRPr>
            </a:lvl5pPr>
            <a:lvl6pPr algn="ctr">
              <a:spcBef>
                <a:spcPts val="0"/>
              </a:spcBef>
              <a:spcAft>
                <a:spcPts val="0"/>
              </a:spcAft>
              <a:buClr>
                <a:schemeClr val="lt1"/>
              </a:buClr>
              <a:buSzPts val="3600"/>
              <a:buNone/>
              <a:defRPr sz="3600">
                <a:solidFill>
                  <a:schemeClr val="lt1"/>
                </a:solidFill>
              </a:defRPr>
            </a:lvl6pPr>
            <a:lvl7pPr algn="ctr">
              <a:spcBef>
                <a:spcPts val="0"/>
              </a:spcBef>
              <a:spcAft>
                <a:spcPts val="0"/>
              </a:spcAft>
              <a:buClr>
                <a:schemeClr val="lt1"/>
              </a:buClr>
              <a:buSzPts val="3600"/>
              <a:buNone/>
              <a:defRPr sz="3600">
                <a:solidFill>
                  <a:schemeClr val="lt1"/>
                </a:solidFill>
              </a:defRPr>
            </a:lvl7pPr>
            <a:lvl8pPr algn="ctr">
              <a:spcBef>
                <a:spcPts val="0"/>
              </a:spcBef>
              <a:spcAft>
                <a:spcPts val="0"/>
              </a:spcAft>
              <a:buClr>
                <a:schemeClr val="lt1"/>
              </a:buClr>
              <a:buSzPts val="3600"/>
              <a:buNone/>
              <a:defRPr sz="3600">
                <a:solidFill>
                  <a:schemeClr val="lt1"/>
                </a:solidFill>
              </a:defRPr>
            </a:lvl8pPr>
            <a:lvl9pPr algn="ctr">
              <a:spcBef>
                <a:spcPts val="0"/>
              </a:spcBef>
              <a:spcAft>
                <a:spcPts val="0"/>
              </a:spcAft>
              <a:buClr>
                <a:schemeClr val="lt1"/>
              </a:buClr>
              <a:buSzPts val="3600"/>
              <a:buNone/>
              <a:defRPr sz="3600">
                <a:solidFill>
                  <a:schemeClr val="lt1"/>
                </a:solidFill>
              </a:defRPr>
            </a:lvl9pPr>
          </a:lstStyle>
          <a:p>
            <a:endParaRPr/>
          </a:p>
        </p:txBody>
      </p:sp>
      <p:pic>
        <p:nvPicPr>
          <p:cNvPr id="23" name="Graphic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1_Section header">
    <p:bg>
      <p:bgPr>
        <a:solidFill>
          <a:srgbClr val="3939D9"/>
        </a:solidFill>
        <a:effectLst/>
      </p:bgPr>
    </p:bg>
    <p:spTree>
      <p:nvGrpSpPr>
        <p:cNvPr id="1" name=""/>
        <p:cNvGrpSpPr/>
        <p:nvPr/>
      </p:nvGrpSpPr>
      <p:grpSpPr>
        <a:xfrm>
          <a:off x="0" y="0"/>
          <a:ext cx="0" cy="0"/>
          <a:chOff x="0" y="0"/>
          <a:chExt cx="0" cy="0"/>
        </a:xfrm>
      </p:grpSpPr>
      <p:pic>
        <p:nvPicPr>
          <p:cNvPr id="24" name="Graphic 10"/>
          <p:cNvPicPr>
            <a:picLocks noChangeAspect="1"/>
          </p:cNvPicPr>
          <p:nvPr/>
        </p:nvPicPr>
        <p:blipFill>
          <a:blip>
            <a:extLst>
              <a:ext uri="{96DAC541-7B7A-43D3-8B79-37D633B846F1}">
                <asvg:svgBlip xmlns:asvg="http://schemas.microsoft.com/office/drawing/2016/SVG/main" r:embed="rId2"/>
              </a:ext>
            </a:extLst>
          </a:blip>
          <a:srcRect t="-1" r="3355" b="1"/>
          <a:stretch/>
        </p:blipFill>
        <p:spPr>
          <a:xfrm>
            <a:off x="4629065" y="4481929"/>
            <a:ext cx="4514935" cy="661572"/>
          </a:xfrm>
          <a:prstGeom prst="rect">
            <a:avLst/>
          </a:prstGeom>
        </p:spPr>
      </p:pic>
      <p:pic>
        <p:nvPicPr>
          <p:cNvPr id="25" name="Graphic 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481929"/>
            <a:ext cx="4671706" cy="661571"/>
          </a:xfrm>
          <a:prstGeom prst="rect">
            <a:avLst/>
          </a:prstGeom>
        </p:spPr>
      </p:pic>
      <p:pic>
        <p:nvPicPr>
          <p:cNvPr id="26" name="Graphic 3"/>
          <p:cNvPicPr>
            <a:picLocks noChangeAspect="1"/>
          </p:cNvPicPr>
          <p:nvPr/>
        </p:nvPicPr>
        <p:blipFill>
          <a:blip>
            <a:extLst>
              <a:ext uri="{96DAC541-7B7A-43D3-8B79-37D633B846F1}">
                <asvg:svgBlip xmlns:asvg="http://schemas.microsoft.com/office/drawing/2016/SVG/main" r:embed="rId3"/>
              </a:ext>
            </a:extLst>
          </a:blip>
          <a:srcRect l="38916"/>
          <a:stretch>
            <a:fillRect/>
          </a:stretch>
        </p:blipFill>
        <p:spPr>
          <a:xfrm>
            <a:off x="-1" y="2438828"/>
            <a:ext cx="5585571" cy="2032000"/>
          </a:xfrm>
          <a:prstGeom prst="rect">
            <a:avLst/>
          </a:prstGeom>
        </p:spPr>
      </p:pic>
      <p:pic>
        <p:nvPicPr>
          <p:cNvPr id="27" name="Graphic 6"/>
          <p:cNvPicPr>
            <a:picLocks noChangeAspect="1"/>
          </p:cNvPicPr>
          <p:nvPr/>
        </p:nvPicPr>
        <p:blipFill>
          <a:blip>
            <a:extLst>
              <a:ext uri="{96DAC541-7B7A-43D3-8B79-37D633B846F1}">
                <asvg:svgBlip xmlns:asvg="http://schemas.microsoft.com/office/drawing/2016/SVG/main" r:embed="rId4"/>
              </a:ext>
            </a:extLst>
          </a:blip>
          <a:srcRect r="15587" b="21353"/>
          <a:stretch>
            <a:fillRect/>
          </a:stretch>
        </p:blipFill>
        <p:spPr>
          <a:xfrm>
            <a:off x="6499435" y="1893231"/>
            <a:ext cx="2644565" cy="3250270"/>
          </a:xfrm>
          <a:prstGeom prst="rect">
            <a:avLst/>
          </a:prstGeom>
        </p:spPr>
      </p:pic>
      <p:sp>
        <p:nvSpPr>
          <p:cNvPr id="18" name="Google Shape;18;p3">
            <a:extLst>
              <a:ext uri="{FF2B5EF4-FFF2-40B4-BE49-F238E27FC236}">
                <a16:creationId xmlns:a16="http://schemas.microsoft.com/office/drawing/2014/main" id="{19898ED4-FBE2-4B02-91EC-81DCF4F78721}"/>
              </a:ext>
            </a:extLst>
          </p:cNvPr>
          <p:cNvSpPr>
            <a:spLocks noGrp="1"/>
          </p:cNvSpPr>
          <p:nvPr>
            <p:ph type="title"/>
          </p:nvPr>
        </p:nvSpPr>
        <p:spPr>
          <a:xfrm>
            <a:off x="311700" y="1940538"/>
            <a:ext cx="8520600" cy="841800"/>
          </a:xfrm>
          <a:prstGeom prst="rect">
            <a:avLst/>
          </a:prstGeom>
        </p:spPr>
        <p:txBody>
          <a:bodyPr spcFirstLastPara="1" wrap="square" lIns="0" tIns="0" rIns="0" bIns="0" anchor="ctr">
            <a:noAutofit/>
          </a:bodyPr>
          <a:lstStyle>
            <a:lvl1pPr algn="l">
              <a:spcBef>
                <a:spcPts val="0"/>
              </a:spcBef>
              <a:spcAft>
                <a:spcPts val="0"/>
              </a:spcAft>
              <a:buClr>
                <a:schemeClr val="lt1"/>
              </a:buClr>
              <a:buSzPts val="3600"/>
              <a:buNone/>
              <a:defRPr sz="3600">
                <a:solidFill>
                  <a:schemeClr val="bg1"/>
                </a:solidFill>
              </a:defRPr>
            </a:lvl1pPr>
            <a:lvl2pPr algn="ctr">
              <a:spcBef>
                <a:spcPts val="0"/>
              </a:spcBef>
              <a:spcAft>
                <a:spcPts val="0"/>
              </a:spcAft>
              <a:buClr>
                <a:schemeClr val="lt1"/>
              </a:buClr>
              <a:buSzPts val="3600"/>
              <a:buNone/>
              <a:defRPr sz="3600">
                <a:solidFill>
                  <a:schemeClr val="lt1"/>
                </a:solidFill>
              </a:defRPr>
            </a:lvl2pPr>
            <a:lvl3pPr algn="ctr">
              <a:spcBef>
                <a:spcPts val="0"/>
              </a:spcBef>
              <a:spcAft>
                <a:spcPts val="0"/>
              </a:spcAft>
              <a:buClr>
                <a:schemeClr val="lt1"/>
              </a:buClr>
              <a:buSzPts val="3600"/>
              <a:buNone/>
              <a:defRPr sz="3600">
                <a:solidFill>
                  <a:schemeClr val="lt1"/>
                </a:solidFill>
              </a:defRPr>
            </a:lvl3pPr>
            <a:lvl4pPr algn="ctr">
              <a:spcBef>
                <a:spcPts val="0"/>
              </a:spcBef>
              <a:spcAft>
                <a:spcPts val="0"/>
              </a:spcAft>
              <a:buClr>
                <a:schemeClr val="lt1"/>
              </a:buClr>
              <a:buSzPts val="3600"/>
              <a:buNone/>
              <a:defRPr sz="3600">
                <a:solidFill>
                  <a:schemeClr val="lt1"/>
                </a:solidFill>
              </a:defRPr>
            </a:lvl4pPr>
            <a:lvl5pPr algn="ctr">
              <a:spcBef>
                <a:spcPts val="0"/>
              </a:spcBef>
              <a:spcAft>
                <a:spcPts val="0"/>
              </a:spcAft>
              <a:buClr>
                <a:schemeClr val="lt1"/>
              </a:buClr>
              <a:buSzPts val="3600"/>
              <a:buNone/>
              <a:defRPr sz="3600">
                <a:solidFill>
                  <a:schemeClr val="lt1"/>
                </a:solidFill>
              </a:defRPr>
            </a:lvl5pPr>
            <a:lvl6pPr algn="ctr">
              <a:spcBef>
                <a:spcPts val="0"/>
              </a:spcBef>
              <a:spcAft>
                <a:spcPts val="0"/>
              </a:spcAft>
              <a:buClr>
                <a:schemeClr val="lt1"/>
              </a:buClr>
              <a:buSzPts val="3600"/>
              <a:buNone/>
              <a:defRPr sz="3600">
                <a:solidFill>
                  <a:schemeClr val="lt1"/>
                </a:solidFill>
              </a:defRPr>
            </a:lvl6pPr>
            <a:lvl7pPr algn="ctr">
              <a:spcBef>
                <a:spcPts val="0"/>
              </a:spcBef>
              <a:spcAft>
                <a:spcPts val="0"/>
              </a:spcAft>
              <a:buClr>
                <a:schemeClr val="lt1"/>
              </a:buClr>
              <a:buSzPts val="3600"/>
              <a:buNone/>
              <a:defRPr sz="3600">
                <a:solidFill>
                  <a:schemeClr val="lt1"/>
                </a:solidFill>
              </a:defRPr>
            </a:lvl7pPr>
            <a:lvl8pPr algn="ctr">
              <a:spcBef>
                <a:spcPts val="0"/>
              </a:spcBef>
              <a:spcAft>
                <a:spcPts val="0"/>
              </a:spcAft>
              <a:buClr>
                <a:schemeClr val="lt1"/>
              </a:buClr>
              <a:buSzPts val="3600"/>
              <a:buNone/>
              <a:defRPr sz="3600">
                <a:solidFill>
                  <a:schemeClr val="lt1"/>
                </a:solidFill>
              </a:defRPr>
            </a:lvl8pPr>
            <a:lvl9pPr algn="ctr">
              <a:spcBef>
                <a:spcPts val="0"/>
              </a:spcBef>
              <a:spcAft>
                <a:spcPts val="0"/>
              </a:spcAft>
              <a:buClr>
                <a:schemeClr val="lt1"/>
              </a:buClr>
              <a:buSzPts val="3600"/>
              <a:buNone/>
              <a:defRPr sz="3600">
                <a:solidFill>
                  <a:schemeClr val="lt1"/>
                </a:solidFill>
              </a:defRPr>
            </a:lvl9pPr>
          </a:lstStyle>
          <a:p>
            <a:endParaRPr/>
          </a:p>
        </p:txBody>
      </p:sp>
      <p:pic>
        <p:nvPicPr>
          <p:cNvPr id="29" name="Graphic 1"/>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1213" y="178533"/>
            <a:ext cx="2007965" cy="88228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reserve="1" userDrawn="1">
  <p:cSld name="1_Section header">
    <p:bg>
      <p:bgPr>
        <a:solidFill>
          <a:srgbClr val="3939D9"/>
        </a:solidFill>
        <a:effectLst/>
      </p:bgPr>
    </p:bg>
    <p:spTree>
      <p:nvGrpSpPr>
        <p:cNvPr id="1" name=""/>
        <p:cNvGrpSpPr/>
        <p:nvPr/>
      </p:nvGrpSpPr>
      <p:grpSpPr>
        <a:xfrm>
          <a:off x="0" y="0"/>
          <a:ext cx="0" cy="0"/>
          <a:chOff x="0" y="0"/>
          <a:chExt cx="0" cy="0"/>
        </a:xfrm>
      </p:grpSpPr>
      <p:pic>
        <p:nvPicPr>
          <p:cNvPr id="8" name="Graphic 5"/>
          <p:cNvPicPr>
            <a:picLocks noChangeAspect="1"/>
          </p:cNvPicPr>
          <p:nvPr/>
        </p:nvPicPr>
        <p:blipFill>
          <a:blip>
            <a:extLst>
              <a:ext uri="{96DAC541-7B7A-43D3-8B79-37D633B846F1}">
                <asvg:svgBlip xmlns:asvg="http://schemas.microsoft.com/office/drawing/2016/SVG/main" r:embed="rId2"/>
              </a:ext>
            </a:extLst>
          </a:blip>
          <a:srcRect l="13688" r="38404"/>
          <a:stretch/>
        </p:blipFill>
        <p:spPr>
          <a:xfrm>
            <a:off x="-1" y="902028"/>
            <a:ext cx="9144001" cy="4241472"/>
          </a:xfrm>
          <a:prstGeom prst="rect">
            <a:avLst/>
          </a:prstGeom>
        </p:spPr>
      </p:pic>
      <p:sp>
        <p:nvSpPr>
          <p:cNvPr id="3" name="Google Shape;10;p2">
            <a:extLst>
              <a:ext uri="{FF2B5EF4-FFF2-40B4-BE49-F238E27FC236}">
                <a16:creationId xmlns:a16="http://schemas.microsoft.com/office/drawing/2014/main" id="{D7886BC5-AD68-17FD-8970-0591BF217146}"/>
              </a:ext>
            </a:extLst>
          </p:cNvPr>
          <p:cNvSpPr>
            <a:spLocks noGrp="1"/>
          </p:cNvSpPr>
          <p:nvPr>
            <p:ph type="ctrTitle"/>
          </p:nvPr>
        </p:nvSpPr>
        <p:spPr>
          <a:xfrm>
            <a:off x="398302" y="1373367"/>
            <a:ext cx="8010201" cy="2024438"/>
          </a:xfrm>
          <a:prstGeom prst="rect">
            <a:avLst/>
          </a:prstGeom>
          <a:noFill/>
        </p:spPr>
        <p:txBody>
          <a:bodyPr spcFirstLastPara="1" wrap="square" lIns="0" tIns="0" rIns="0" bIns="0" anchor="ctr">
            <a:noAutofit/>
          </a:bodyPr>
          <a:lstStyle>
            <a:lvl1pPr algn="l">
              <a:spcBef>
                <a:spcPts val="0"/>
              </a:spcBef>
              <a:spcAft>
                <a:spcPts val="0"/>
              </a:spcAft>
              <a:buClr>
                <a:schemeClr val="lt1"/>
              </a:buClr>
              <a:buSzPts val="4800"/>
              <a:buNone/>
              <a:defRPr sz="4800">
                <a:solidFill>
                  <a:schemeClr val="bg1"/>
                </a:solidFill>
              </a:defRPr>
            </a:lvl1pPr>
            <a:lvl2pPr algn="ctr">
              <a:spcBef>
                <a:spcPts val="0"/>
              </a:spcBef>
              <a:spcAft>
                <a:spcPts val="0"/>
              </a:spcAft>
              <a:buClr>
                <a:schemeClr val="lt1"/>
              </a:buClr>
              <a:buSzPts val="4800"/>
              <a:buNone/>
              <a:defRPr sz="4800">
                <a:solidFill>
                  <a:schemeClr val="lt1"/>
                </a:solidFill>
              </a:defRPr>
            </a:lvl2pPr>
            <a:lvl3pPr algn="ctr">
              <a:spcBef>
                <a:spcPts val="0"/>
              </a:spcBef>
              <a:spcAft>
                <a:spcPts val="0"/>
              </a:spcAft>
              <a:buClr>
                <a:schemeClr val="lt1"/>
              </a:buClr>
              <a:buSzPts val="4800"/>
              <a:buNone/>
              <a:defRPr sz="4800">
                <a:solidFill>
                  <a:schemeClr val="lt1"/>
                </a:solidFill>
              </a:defRPr>
            </a:lvl3pPr>
            <a:lvl4pPr algn="ctr">
              <a:spcBef>
                <a:spcPts val="0"/>
              </a:spcBef>
              <a:spcAft>
                <a:spcPts val="0"/>
              </a:spcAft>
              <a:buClr>
                <a:schemeClr val="lt1"/>
              </a:buClr>
              <a:buSzPts val="4800"/>
              <a:buNone/>
              <a:defRPr sz="4800">
                <a:solidFill>
                  <a:schemeClr val="lt1"/>
                </a:solidFill>
              </a:defRPr>
            </a:lvl4pPr>
            <a:lvl5pPr algn="ctr">
              <a:spcBef>
                <a:spcPts val="0"/>
              </a:spcBef>
              <a:spcAft>
                <a:spcPts val="0"/>
              </a:spcAft>
              <a:buClr>
                <a:schemeClr val="lt1"/>
              </a:buClr>
              <a:buSzPts val="4800"/>
              <a:buNone/>
              <a:defRPr sz="4800">
                <a:solidFill>
                  <a:schemeClr val="lt1"/>
                </a:solidFill>
              </a:defRPr>
            </a:lvl5pPr>
            <a:lvl6pPr algn="ctr">
              <a:spcBef>
                <a:spcPts val="0"/>
              </a:spcBef>
              <a:spcAft>
                <a:spcPts val="0"/>
              </a:spcAft>
              <a:buClr>
                <a:schemeClr val="lt1"/>
              </a:buClr>
              <a:buSzPts val="4800"/>
              <a:buNone/>
              <a:defRPr sz="4800">
                <a:solidFill>
                  <a:schemeClr val="lt1"/>
                </a:solidFill>
              </a:defRPr>
            </a:lvl6pPr>
            <a:lvl7pPr algn="ctr">
              <a:spcBef>
                <a:spcPts val="0"/>
              </a:spcBef>
              <a:spcAft>
                <a:spcPts val="0"/>
              </a:spcAft>
              <a:buClr>
                <a:schemeClr val="lt1"/>
              </a:buClr>
              <a:buSzPts val="4800"/>
              <a:buNone/>
              <a:defRPr sz="4800">
                <a:solidFill>
                  <a:schemeClr val="lt1"/>
                </a:solidFill>
              </a:defRPr>
            </a:lvl7pPr>
            <a:lvl8pPr algn="ctr">
              <a:spcBef>
                <a:spcPts val="0"/>
              </a:spcBef>
              <a:spcAft>
                <a:spcPts val="0"/>
              </a:spcAft>
              <a:buClr>
                <a:schemeClr val="lt1"/>
              </a:buClr>
              <a:buSzPts val="4800"/>
              <a:buNone/>
              <a:defRPr sz="4800">
                <a:solidFill>
                  <a:schemeClr val="lt1"/>
                </a:solidFill>
              </a:defRPr>
            </a:lvl8pPr>
            <a:lvl9pPr algn="ctr">
              <a:spcBef>
                <a:spcPts val="0"/>
              </a:spcBef>
              <a:spcAft>
                <a:spcPts val="0"/>
              </a:spcAft>
              <a:buClr>
                <a:schemeClr val="lt1"/>
              </a:buClr>
              <a:buSzPts val="4800"/>
              <a:buNone/>
              <a:defRPr sz="4800">
                <a:solidFill>
                  <a:schemeClr val="lt1"/>
                </a:solidFill>
              </a:defRPr>
            </a:lvl9pPr>
          </a:lstStyle>
          <a:p>
            <a:endParaRPr/>
          </a:p>
        </p:txBody>
      </p:sp>
      <p:sp>
        <p:nvSpPr>
          <p:cNvPr id="4" name="Google Shape;11;p2">
            <a:extLst>
              <a:ext uri="{FF2B5EF4-FFF2-40B4-BE49-F238E27FC236}">
                <a16:creationId xmlns:a16="http://schemas.microsoft.com/office/drawing/2014/main" id="{2DE4FE32-0B29-47A8-70C6-3BD2A2207575}"/>
              </a:ext>
            </a:extLst>
          </p:cNvPr>
          <p:cNvSpPr>
            <a:spLocks noGrp="1"/>
          </p:cNvSpPr>
          <p:nvPr>
            <p:ph type="subTitle" idx="1"/>
          </p:nvPr>
        </p:nvSpPr>
        <p:spPr>
          <a:xfrm>
            <a:off x="398301" y="3397805"/>
            <a:ext cx="8010201" cy="670179"/>
          </a:xfrm>
          <a:prstGeom prst="rect">
            <a:avLst/>
          </a:prstGeom>
          <a:noFill/>
        </p:spPr>
        <p:txBody>
          <a:bodyPr spcFirstLastPara="1" wrap="square" lIns="0" tIns="0" rIns="0" bIns="0" anchor="ctr">
            <a:noAutofit/>
          </a:bodyPr>
          <a:lstStyle>
            <a:lvl1pPr algn="l">
              <a:lnSpc>
                <a:spcPct val="100000"/>
              </a:lnSpc>
              <a:spcBef>
                <a:spcPts val="0"/>
              </a:spcBef>
              <a:spcAft>
                <a:spcPts val="0"/>
              </a:spcAft>
              <a:buClr>
                <a:schemeClr val="lt1"/>
              </a:buClr>
              <a:buSzPts val="2800"/>
              <a:buNone/>
              <a:defRPr sz="2800" b="1">
                <a:solidFill>
                  <a:schemeClr val="bg1"/>
                </a:solidFill>
              </a:defRPr>
            </a:lvl1pPr>
            <a:lvl2pPr algn="ctr">
              <a:lnSpc>
                <a:spcPct val="100000"/>
              </a:lnSpc>
              <a:spcBef>
                <a:spcPts val="0"/>
              </a:spcBef>
              <a:spcAft>
                <a:spcPts val="0"/>
              </a:spcAft>
              <a:buClr>
                <a:schemeClr val="lt1"/>
              </a:buClr>
              <a:buSzPts val="2800"/>
              <a:buNone/>
              <a:defRPr sz="2800">
                <a:solidFill>
                  <a:schemeClr val="lt1"/>
                </a:solidFill>
              </a:defRPr>
            </a:lvl2pPr>
            <a:lvl3pPr algn="ctr">
              <a:lnSpc>
                <a:spcPct val="100000"/>
              </a:lnSpc>
              <a:spcBef>
                <a:spcPts val="0"/>
              </a:spcBef>
              <a:spcAft>
                <a:spcPts val="0"/>
              </a:spcAft>
              <a:buClr>
                <a:schemeClr val="lt1"/>
              </a:buClr>
              <a:buSzPts val="2800"/>
              <a:buNone/>
              <a:defRPr sz="2800">
                <a:solidFill>
                  <a:schemeClr val="lt1"/>
                </a:solidFill>
              </a:defRPr>
            </a:lvl3pPr>
            <a:lvl4pPr algn="ctr">
              <a:lnSpc>
                <a:spcPct val="100000"/>
              </a:lnSpc>
              <a:spcBef>
                <a:spcPts val="0"/>
              </a:spcBef>
              <a:spcAft>
                <a:spcPts val="0"/>
              </a:spcAft>
              <a:buClr>
                <a:schemeClr val="lt1"/>
              </a:buClr>
              <a:buSzPts val="2800"/>
              <a:buNone/>
              <a:defRPr sz="2800">
                <a:solidFill>
                  <a:schemeClr val="lt1"/>
                </a:solidFill>
              </a:defRPr>
            </a:lvl4pPr>
            <a:lvl5pPr algn="ctr">
              <a:lnSpc>
                <a:spcPct val="100000"/>
              </a:lnSpc>
              <a:spcBef>
                <a:spcPts val="0"/>
              </a:spcBef>
              <a:spcAft>
                <a:spcPts val="0"/>
              </a:spcAft>
              <a:buClr>
                <a:schemeClr val="lt1"/>
              </a:buClr>
              <a:buSzPts val="2800"/>
              <a:buNone/>
              <a:defRPr sz="2800">
                <a:solidFill>
                  <a:schemeClr val="lt1"/>
                </a:solidFill>
              </a:defRPr>
            </a:lvl5pPr>
            <a:lvl6pPr algn="ctr">
              <a:lnSpc>
                <a:spcPct val="100000"/>
              </a:lnSpc>
              <a:spcBef>
                <a:spcPts val="0"/>
              </a:spcBef>
              <a:spcAft>
                <a:spcPts val="0"/>
              </a:spcAft>
              <a:buClr>
                <a:schemeClr val="lt1"/>
              </a:buClr>
              <a:buSzPts val="2800"/>
              <a:buNone/>
              <a:defRPr sz="2800">
                <a:solidFill>
                  <a:schemeClr val="lt1"/>
                </a:solidFill>
              </a:defRPr>
            </a:lvl6pPr>
            <a:lvl7pPr algn="ctr">
              <a:lnSpc>
                <a:spcPct val="100000"/>
              </a:lnSpc>
              <a:spcBef>
                <a:spcPts val="0"/>
              </a:spcBef>
              <a:spcAft>
                <a:spcPts val="0"/>
              </a:spcAft>
              <a:buClr>
                <a:schemeClr val="lt1"/>
              </a:buClr>
              <a:buSzPts val="2800"/>
              <a:buNone/>
              <a:defRPr sz="2800">
                <a:solidFill>
                  <a:schemeClr val="lt1"/>
                </a:solidFill>
              </a:defRPr>
            </a:lvl7pPr>
            <a:lvl8pPr algn="ctr">
              <a:lnSpc>
                <a:spcPct val="100000"/>
              </a:lnSpc>
              <a:spcBef>
                <a:spcPts val="0"/>
              </a:spcBef>
              <a:spcAft>
                <a:spcPts val="0"/>
              </a:spcAft>
              <a:buClr>
                <a:schemeClr val="lt1"/>
              </a:buClr>
              <a:buSzPts val="2800"/>
              <a:buNone/>
              <a:defRPr sz="2800">
                <a:solidFill>
                  <a:schemeClr val="lt1"/>
                </a:solidFill>
              </a:defRPr>
            </a:lvl8pPr>
            <a:lvl9pPr algn="ctr">
              <a:lnSpc>
                <a:spcPct val="100000"/>
              </a:lnSpc>
              <a:spcBef>
                <a:spcPts val="0"/>
              </a:spcBef>
              <a:spcAft>
                <a:spcPts val="0"/>
              </a:spcAft>
              <a:buClr>
                <a:schemeClr val="lt1"/>
              </a:buClr>
              <a:buSzPts val="2800"/>
              <a:buNone/>
              <a:defRPr sz="2800">
                <a:solidFill>
                  <a:schemeClr val="lt1"/>
                </a:solidFill>
              </a:defRPr>
            </a:lvl9pPr>
          </a:lstStyle>
          <a:p>
            <a:endParaRPr/>
          </a:p>
        </p:txBody>
      </p:sp>
      <p:pic>
        <p:nvPicPr>
          <p:cNvPr id="11" name="Graphic 12"/>
          <p:cNvPicPr>
            <a:picLocks noChangeAspect="1"/>
          </p:cNvPicPr>
          <p:nvPr/>
        </p:nvPicPr>
        <p:blipFill>
          <a:blip>
            <a:extLst>
              <a:ext uri="{96DAC541-7B7A-43D3-8B79-37D633B846F1}">
                <asvg:svgBlip xmlns:asvg="http://schemas.microsoft.com/office/drawing/2016/SVG/main" r:embed="rId3"/>
              </a:ext>
            </a:extLst>
          </a:blip>
          <a:srcRect l="41002" b="9975"/>
          <a:stretch>
            <a:fillRect/>
          </a:stretch>
        </p:blipFill>
        <p:spPr>
          <a:xfrm>
            <a:off x="-1" y="4080209"/>
            <a:ext cx="1528535" cy="1063291"/>
          </a:xfrm>
          <a:prstGeom prst="rect">
            <a:avLst/>
          </a:prstGeom>
        </p:spPr>
      </p:pic>
      <p:pic>
        <p:nvPicPr>
          <p:cNvPr id="12" name="Graphic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1213" y="178533"/>
            <a:ext cx="2007965" cy="88228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reserve="1" userDrawn="1">
  <p:cSld name="Logo">
    <p:bg>
      <p:bgPr>
        <a:solidFill>
          <a:srgbClr val="3939D9"/>
        </a:solidFill>
        <a:effectLst/>
      </p:bgPr>
    </p:bg>
    <p:spTree>
      <p:nvGrpSpPr>
        <p:cNvPr id="1" name=""/>
        <p:cNvGrpSpPr/>
        <p:nvPr/>
      </p:nvGrpSpPr>
      <p:grpSpPr>
        <a:xfrm>
          <a:off x="0" y="0"/>
          <a:ext cx="0" cy="0"/>
          <a:chOff x="0" y="0"/>
          <a:chExt cx="0" cy="0"/>
        </a:xfrm>
      </p:grpSpPr>
      <p:pic>
        <p:nvPicPr>
          <p:cNvPr id="3" name="Graphic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2474"/>
            <a:ext cx="9144000" cy="5145974"/>
          </a:xfrm>
          <a:prstGeom prst="rect">
            <a:avLst/>
          </a:prstGeom>
        </p:spPr>
      </p:pic>
      <p:pic>
        <p:nvPicPr>
          <p:cNvPr id="4" name="Graphic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p:cSld name="TITLE_AND_BODY">
    <p:bg>
      <p:bgPr>
        <a:solidFill>
          <a:schemeClr val="lt1"/>
        </a:solidFill>
        <a:effectLst/>
      </p:bgPr>
    </p:bg>
    <p:spTree>
      <p:nvGrpSpPr>
        <p:cNvPr id="1" name=""/>
        <p:cNvGrpSpPr/>
        <p:nvPr/>
      </p:nvGrpSpPr>
      <p:grpSpPr>
        <a:xfrm>
          <a:off x="0" y="0"/>
          <a:ext cx="0" cy="0"/>
          <a:chOff x="0" y="0"/>
          <a:chExt cx="0" cy="0"/>
        </a:xfrm>
      </p:grpSpPr>
      <p:sp>
        <p:nvSpPr>
          <p:cNvPr id="22" name="Google Shape;22;p4">
            <a:extLst>
              <a:ext uri="{FF2B5EF4-FFF2-40B4-BE49-F238E27FC236}">
                <a16:creationId xmlns:a16="http://schemas.microsoft.com/office/drawing/2014/main" id="{B4AAFEF9-4FEE-423A-8944-F9BA52B44755}"/>
              </a:ext>
            </a:extLst>
          </p:cNvPr>
          <p:cNvSpPr>
            <a:spLocks noGrp="1"/>
          </p:cNvSpPr>
          <p:nvPr>
            <p:ph type="title"/>
          </p:nvPr>
        </p:nvSpPr>
        <p:spPr>
          <a:xfrm>
            <a:off x="311700" y="445025"/>
            <a:ext cx="8520600" cy="572700"/>
          </a:xfrm>
          <a:prstGeom prst="rect">
            <a:avLst/>
          </a:prstGeom>
        </p:spPr>
        <p:txBody>
          <a:bodyPr spcFirstLastPara="1" wrap="square" lIns="0" tIns="0" rIns="0" bIns="0" anchor="ctr">
            <a:noAutofit/>
          </a:bodyPr>
          <a:lstStyle>
            <a:lvl1pPr>
              <a:spcBef>
                <a:spcPts val="0"/>
              </a:spcBef>
              <a:spcAft>
                <a:spcPts val="0"/>
              </a:spcAft>
              <a:buSzPts val="2800"/>
              <a:buNone/>
              <a:defRPr>
                <a:solidFill>
                  <a:srgbClr val="00144C"/>
                </a:solidFill>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3" name="Google Shape;23;p4">
            <a:extLst>
              <a:ext uri="{FF2B5EF4-FFF2-40B4-BE49-F238E27FC236}">
                <a16:creationId xmlns:a16="http://schemas.microsoft.com/office/drawing/2014/main" id="{FB27A500-A32D-41FF-9277-BD430022623E}"/>
              </a:ext>
            </a:extLst>
          </p:cNvPr>
          <p:cNvSpPr>
            <a:spLocks noGrp="1"/>
          </p:cNvSpPr>
          <p:nvPr>
            <p:ph type="body" idx="1"/>
          </p:nvPr>
        </p:nvSpPr>
        <p:spPr>
          <a:xfrm>
            <a:off x="311700" y="1152475"/>
            <a:ext cx="8520600" cy="3317400"/>
          </a:xfrm>
          <a:prstGeom prst="rect">
            <a:avLst/>
          </a:prstGeom>
        </p:spPr>
        <p:txBody>
          <a:bodyPr spcFirstLastPara="1" wrap="square" lIns="0" tIns="0" rIns="0" bIns="0" anchor="t">
            <a:noAutofit/>
          </a:bodyPr>
          <a:lstStyle>
            <a:lvl1pPr marL="457200" indent="-342900">
              <a:spcBef>
                <a:spcPts val="0"/>
              </a:spcBef>
              <a:spcAft>
                <a:spcPts val="0"/>
              </a:spcAft>
              <a:buSzPts val="1800"/>
              <a:buChar char="●"/>
              <a:defRPr sz="1200"/>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a:endParaRPr/>
          </a:p>
        </p:txBody>
      </p:sp>
      <p:sp>
        <p:nvSpPr>
          <p:cNvPr id="3" name="Google Shape;8;p1">
            <a:extLst>
              <a:ext uri="{FF2B5EF4-FFF2-40B4-BE49-F238E27FC236}">
                <a16:creationId xmlns:a16="http://schemas.microsoft.com/office/drawing/2014/main" id="{EA43BF7F-CDD3-5FD0-BDAC-85A5CA4188A1}"/>
              </a:ext>
            </a:extLst>
          </p:cNvPr>
          <p:cNvSpPr>
            <a:spLocks noGrp="1"/>
          </p:cNvSpPr>
          <p:nvPr>
            <p:ph type="sldNum" idx="12"/>
          </p:nvPr>
        </p:nvSpPr>
        <p:spPr>
          <a:xfrm>
            <a:off x="8283600" y="4663217"/>
            <a:ext cx="548700" cy="393600"/>
          </a:xfrm>
          <a:prstGeom prst="rect">
            <a:avLst/>
          </a:prstGeom>
          <a:noFill/>
          <a:ln>
            <a:noFill/>
          </a:ln>
        </p:spPr>
        <p:txBody>
          <a:bodyPr spcFirstLastPara="1" wrap="square" lIns="0" tIns="0" rIns="0" bIns="0" anchor="ctr">
            <a:no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pic>
        <p:nvPicPr>
          <p:cNvPr id="28" name="Graphic 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1700" y="4590950"/>
            <a:ext cx="1079629" cy="47438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preserve="1">
  <p:cSld name="1_Title and body">
    <p:bg>
      <p:bgPr>
        <a:solidFill>
          <a:schemeClr val="lt1"/>
        </a:solidFill>
        <a:effectLst/>
      </p:bgPr>
    </p:bg>
    <p:spTree>
      <p:nvGrpSpPr>
        <p:cNvPr id="1" name=""/>
        <p:cNvGrpSpPr/>
        <p:nvPr/>
      </p:nvGrpSpPr>
      <p:grpSpPr>
        <a:xfrm>
          <a:off x="0" y="0"/>
          <a:ext cx="0" cy="0"/>
          <a:chOff x="0" y="0"/>
          <a:chExt cx="0" cy="0"/>
        </a:xfrm>
      </p:grpSpPr>
      <p:sp>
        <p:nvSpPr>
          <p:cNvPr id="2" name="Google Shape;21;p9">
            <a:extLst>
              <a:ext uri="{FF2B5EF4-FFF2-40B4-BE49-F238E27FC236}">
                <a16:creationId xmlns:a16="http://schemas.microsoft.com/office/drawing/2014/main" id="{75690BBD-4CD0-DFB9-AB2D-E63C2BD08AB7}"/>
              </a:ext>
            </a:extLst>
          </p:cNvPr>
          <p:cNvSpPr>
            <a:spLocks noGrp="1"/>
          </p:cNvSpPr>
          <p:nvPr/>
        </p:nvSpPr>
        <p:spPr>
          <a:xfrm>
            <a:off x="7100" y="5625"/>
            <a:ext cx="9136900" cy="1047900"/>
          </a:xfrm>
          <a:prstGeom prst="rect">
            <a:avLst/>
          </a:prstGeom>
          <a:solidFill>
            <a:srgbClr val="3939D9"/>
          </a:solidFill>
          <a:ln>
            <a:noFill/>
          </a:ln>
        </p:spPr>
        <p:txBody>
          <a:bodyPr spcFirstLastPara="1" wrap="square" lIns="91425" tIns="91425" rIns="91425" bIns="91425" anchor="ctr">
            <a:noAutofit/>
          </a:bodyPr>
          <a:lstStyle/>
          <a:p>
            <a:pPr marL="0" lvl="0" indent="0" algn="ctr">
              <a:spcBef>
                <a:spcPts val="0"/>
              </a:spcBef>
              <a:spcAft>
                <a:spcPts val="0"/>
              </a:spcAft>
              <a:buNone/>
            </a:pPr>
            <a:endParaRPr/>
          </a:p>
        </p:txBody>
      </p:sp>
      <p:sp>
        <p:nvSpPr>
          <p:cNvPr id="22" name="Google Shape;22;p4">
            <a:extLst>
              <a:ext uri="{FF2B5EF4-FFF2-40B4-BE49-F238E27FC236}">
                <a16:creationId xmlns:a16="http://schemas.microsoft.com/office/drawing/2014/main" id="{9F2CFCED-78AE-4806-B4D1-D1610EC3A71C}"/>
              </a:ext>
            </a:extLst>
          </p:cNvPr>
          <p:cNvSpPr>
            <a:spLocks noGrp="1"/>
          </p:cNvSpPr>
          <p:nvPr>
            <p:ph type="title"/>
          </p:nvPr>
        </p:nvSpPr>
        <p:spPr>
          <a:xfrm>
            <a:off x="311700" y="0"/>
            <a:ext cx="6949739" cy="1047900"/>
          </a:xfrm>
          <a:prstGeom prst="rect">
            <a:avLst/>
          </a:prstGeom>
        </p:spPr>
        <p:txBody>
          <a:bodyPr spcFirstLastPara="1" wrap="square" lIns="0" tIns="0" rIns="0" bIns="0" anchor="ctr">
            <a:normAutofit/>
          </a:bodyPr>
          <a:lstStyle>
            <a:lvl1pPr>
              <a:spcBef>
                <a:spcPts val="0"/>
              </a:spcBef>
              <a:spcAft>
                <a:spcPts val="0"/>
              </a:spcAft>
              <a:buSzPts val="2800"/>
              <a:buNone/>
              <a:defRPr>
                <a:solidFill>
                  <a:schemeClr val="bg1"/>
                </a:solidFill>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3" name="Google Shape;23;p4">
            <a:extLst>
              <a:ext uri="{FF2B5EF4-FFF2-40B4-BE49-F238E27FC236}">
                <a16:creationId xmlns:a16="http://schemas.microsoft.com/office/drawing/2014/main" id="{06B1D3D4-2633-41C5-84BE-95A43082AF9A}"/>
              </a:ext>
            </a:extLst>
          </p:cNvPr>
          <p:cNvSpPr>
            <a:spLocks noGrp="1"/>
          </p:cNvSpPr>
          <p:nvPr>
            <p:ph type="body" idx="1"/>
          </p:nvPr>
        </p:nvSpPr>
        <p:spPr>
          <a:xfrm>
            <a:off x="311700" y="1152475"/>
            <a:ext cx="8520600" cy="3317400"/>
          </a:xfrm>
          <a:prstGeom prst="rect">
            <a:avLst/>
          </a:prstGeom>
        </p:spPr>
        <p:txBody>
          <a:bodyPr spcFirstLastPara="1" wrap="square" lIns="0" tIns="0" rIns="0" bIns="0" anchor="t">
            <a:noAutofit/>
          </a:bodyPr>
          <a:lstStyle>
            <a:lvl1pPr marL="457200" indent="-342900">
              <a:spcBef>
                <a:spcPts val="0"/>
              </a:spcBef>
              <a:spcAft>
                <a:spcPts val="0"/>
              </a:spcAft>
              <a:buSzPts val="1800"/>
              <a:buChar char="●"/>
              <a:defRPr sz="1200"/>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a:endParaRPr/>
          </a:p>
        </p:txBody>
      </p:sp>
      <p:sp>
        <p:nvSpPr>
          <p:cNvPr id="3" name="Google Shape;8;p1">
            <a:extLst>
              <a:ext uri="{FF2B5EF4-FFF2-40B4-BE49-F238E27FC236}">
                <a16:creationId xmlns:a16="http://schemas.microsoft.com/office/drawing/2014/main" id="{19D7AB29-BDB6-7644-4042-CFF53942E56F}"/>
              </a:ext>
            </a:extLst>
          </p:cNvPr>
          <p:cNvSpPr>
            <a:spLocks noGrp="1"/>
          </p:cNvSpPr>
          <p:nvPr>
            <p:ph type="sldNum" idx="12"/>
          </p:nvPr>
        </p:nvSpPr>
        <p:spPr>
          <a:xfrm>
            <a:off x="8283600" y="4663217"/>
            <a:ext cx="548700" cy="393600"/>
          </a:xfrm>
          <a:prstGeom prst="rect">
            <a:avLst/>
          </a:prstGeom>
          <a:noFill/>
          <a:ln>
            <a:noFill/>
          </a:ln>
        </p:spPr>
        <p:txBody>
          <a:bodyPr spcFirstLastPara="1" wrap="square" lIns="0" tIns="0" rIns="0" bIns="0" anchor="ctr">
            <a:no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pic>
        <p:nvPicPr>
          <p:cNvPr id="29" name="Graphic 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86494" y="262283"/>
            <a:ext cx="1245804" cy="54739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bg>
      <p:bgPr>
        <a:solidFill>
          <a:schemeClr val="lt1"/>
        </a:solidFill>
        <a:effectLst/>
      </p:bgPr>
    </p:bg>
    <p:spTree>
      <p:nvGrpSpPr>
        <p:cNvPr id="1" name=""/>
        <p:cNvGrpSpPr/>
        <p:nvPr/>
      </p:nvGrpSpPr>
      <p:grpSpPr>
        <a:xfrm>
          <a:off x="0" y="0"/>
          <a:ext cx="0" cy="0"/>
          <a:chOff x="0" y="0"/>
          <a:chExt cx="0" cy="0"/>
        </a:xfrm>
      </p:grpSpPr>
      <p:sp>
        <p:nvSpPr>
          <p:cNvPr id="30" name="Google Shape;30;p5">
            <a:extLst>
              <a:ext uri="{FF2B5EF4-FFF2-40B4-BE49-F238E27FC236}">
                <a16:creationId xmlns:a16="http://schemas.microsoft.com/office/drawing/2014/main" id="{20D46B91-B69C-4FF9-ADC6-CFE9E614E379}"/>
              </a:ext>
            </a:extLst>
          </p:cNvPr>
          <p:cNvSpPr>
            <a:spLocks noGrp="1"/>
          </p:cNvSpPr>
          <p:nvPr>
            <p:ph type="title"/>
          </p:nvPr>
        </p:nvSpPr>
        <p:spPr>
          <a:xfrm>
            <a:off x="311700" y="445025"/>
            <a:ext cx="8520600" cy="572700"/>
          </a:xfrm>
          <a:prstGeom prst="rect">
            <a:avLst/>
          </a:prstGeom>
        </p:spPr>
        <p:txBody>
          <a:bodyPr spcFirstLastPara="1" wrap="square" lIns="0" tIns="0" rIns="0" bIns="0" anchor="ctr">
            <a:noAutofit/>
          </a:bodyPr>
          <a:lstStyle>
            <a:lvl1pPr>
              <a:spcBef>
                <a:spcPts val="0"/>
              </a:spcBef>
              <a:spcAft>
                <a:spcPts val="0"/>
              </a:spcAft>
              <a:buSzPts val="2800"/>
              <a:buNone/>
              <a:defRPr>
                <a:solidFill>
                  <a:srgbClr val="00144C"/>
                </a:solidFill>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31" name="Google Shape;31;p5">
            <a:extLst>
              <a:ext uri="{FF2B5EF4-FFF2-40B4-BE49-F238E27FC236}">
                <a16:creationId xmlns:a16="http://schemas.microsoft.com/office/drawing/2014/main" id="{CFBF9F72-24E8-4EC5-858E-92B6E07E8779}"/>
              </a:ext>
            </a:extLst>
          </p:cNvPr>
          <p:cNvSpPr>
            <a:spLocks noGrp="1"/>
          </p:cNvSpPr>
          <p:nvPr>
            <p:ph type="body" idx="1"/>
          </p:nvPr>
        </p:nvSpPr>
        <p:spPr>
          <a:xfrm>
            <a:off x="311700" y="1152475"/>
            <a:ext cx="3999900" cy="3317400"/>
          </a:xfrm>
          <a:prstGeom prst="rect">
            <a:avLst/>
          </a:prstGeom>
        </p:spPr>
        <p:txBody>
          <a:bodyPr spcFirstLastPara="1" wrap="square" lIns="0" tIns="0" rIns="0" bIns="0" anchor="t">
            <a:noAutofit/>
          </a:bodyPr>
          <a:lstStyle>
            <a:lvl1pPr marL="457200" indent="-317500">
              <a:spcBef>
                <a:spcPts val="0"/>
              </a:spcBef>
              <a:spcAft>
                <a:spcPts val="0"/>
              </a:spcAft>
              <a:buSzPts val="14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32" name="Google Shape;32;p5">
            <a:extLst>
              <a:ext uri="{FF2B5EF4-FFF2-40B4-BE49-F238E27FC236}">
                <a16:creationId xmlns:a16="http://schemas.microsoft.com/office/drawing/2014/main" id="{E1F65073-D769-4831-AC08-17EFB3081E29}"/>
              </a:ext>
            </a:extLst>
          </p:cNvPr>
          <p:cNvSpPr>
            <a:spLocks noGrp="1"/>
          </p:cNvSpPr>
          <p:nvPr>
            <p:ph type="body" idx="2"/>
          </p:nvPr>
        </p:nvSpPr>
        <p:spPr>
          <a:xfrm>
            <a:off x="4832400" y="1152475"/>
            <a:ext cx="3999900" cy="3317400"/>
          </a:xfrm>
          <a:prstGeom prst="rect">
            <a:avLst/>
          </a:prstGeom>
        </p:spPr>
        <p:txBody>
          <a:bodyPr spcFirstLastPara="1" wrap="square" lIns="0" tIns="0" rIns="0" bIns="0" anchor="t">
            <a:noAutofit/>
          </a:bodyPr>
          <a:lstStyle>
            <a:lvl1pPr marL="457200" indent="-317500">
              <a:spcBef>
                <a:spcPts val="0"/>
              </a:spcBef>
              <a:spcAft>
                <a:spcPts val="0"/>
              </a:spcAft>
              <a:buSzPts val="14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2" name="Google Shape;8;p1">
            <a:extLst>
              <a:ext uri="{FF2B5EF4-FFF2-40B4-BE49-F238E27FC236}">
                <a16:creationId xmlns:a16="http://schemas.microsoft.com/office/drawing/2014/main" id="{932876E6-4D38-11EA-167F-BBCFD39720DB}"/>
              </a:ext>
            </a:extLst>
          </p:cNvPr>
          <p:cNvSpPr>
            <a:spLocks noGrp="1"/>
          </p:cNvSpPr>
          <p:nvPr>
            <p:ph type="sldNum" idx="12"/>
          </p:nvPr>
        </p:nvSpPr>
        <p:spPr>
          <a:xfrm>
            <a:off x="8283600" y="4663217"/>
            <a:ext cx="548700" cy="393600"/>
          </a:xfrm>
          <a:prstGeom prst="rect">
            <a:avLst/>
          </a:prstGeom>
          <a:noFill/>
          <a:ln>
            <a:noFill/>
          </a:ln>
        </p:spPr>
        <p:txBody>
          <a:bodyPr spcFirstLastPara="1" wrap="square" lIns="0" tIns="0" rIns="0" bIns="0" anchor="ctr">
            <a:no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pic>
        <p:nvPicPr>
          <p:cNvPr id="38" name="Graphic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1700" y="4590950"/>
            <a:ext cx="1079629" cy="47438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
        <p:cNvGrpSpPr/>
        <p:nvPr/>
      </p:nvGrpSpPr>
      <p:grpSpPr>
        <a:xfrm>
          <a:off x="0" y="0"/>
          <a:ext cx="0" cy="0"/>
          <a:chOff x="0" y="0"/>
          <a:chExt cx="0" cy="0"/>
        </a:xfrm>
      </p:grpSpPr>
      <p:sp>
        <p:nvSpPr>
          <p:cNvPr id="37" name="Google Shape;37;p6">
            <a:extLst>
              <a:ext uri="{FF2B5EF4-FFF2-40B4-BE49-F238E27FC236}">
                <a16:creationId xmlns:a16="http://schemas.microsoft.com/office/drawing/2014/main" id="{5604D4A5-4B70-4412-AFDD-FD2866B96818}"/>
              </a:ext>
            </a:extLst>
          </p:cNvPr>
          <p:cNvSpPr>
            <a:spLocks noGrp="1"/>
          </p:cNvSpPr>
          <p:nvPr>
            <p:ph type="title"/>
          </p:nvPr>
        </p:nvSpPr>
        <p:spPr>
          <a:xfrm>
            <a:off x="311700" y="445025"/>
            <a:ext cx="8520600" cy="572700"/>
          </a:xfrm>
          <a:prstGeom prst="rect">
            <a:avLst/>
          </a:prstGeom>
        </p:spPr>
        <p:txBody>
          <a:bodyPr spcFirstLastPara="1" wrap="square" lIns="0" tIns="0" rIns="0" bIns="0" anchor="ctr">
            <a:noAutofit/>
          </a:bodyPr>
          <a:lstStyle>
            <a:lvl1pPr>
              <a:spcBef>
                <a:spcPts val="0"/>
              </a:spcBef>
              <a:spcAft>
                <a:spcPts val="0"/>
              </a:spcAft>
              <a:buSzPts val="2800"/>
              <a:buNone/>
              <a:defRPr>
                <a:solidFill>
                  <a:srgbClr val="00144C"/>
                </a:solidFill>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 name="Google Shape;8;p1">
            <a:extLst>
              <a:ext uri="{FF2B5EF4-FFF2-40B4-BE49-F238E27FC236}">
                <a16:creationId xmlns:a16="http://schemas.microsoft.com/office/drawing/2014/main" id="{2F268F7C-4B84-DC91-5EA0-A50E222BF634}"/>
              </a:ext>
            </a:extLst>
          </p:cNvPr>
          <p:cNvSpPr>
            <a:spLocks noGrp="1"/>
          </p:cNvSpPr>
          <p:nvPr>
            <p:ph type="sldNum" idx="12"/>
          </p:nvPr>
        </p:nvSpPr>
        <p:spPr>
          <a:xfrm>
            <a:off x="8283600" y="4663217"/>
            <a:ext cx="548700" cy="393600"/>
          </a:xfrm>
          <a:prstGeom prst="rect">
            <a:avLst/>
          </a:prstGeom>
          <a:noFill/>
          <a:ln>
            <a:noFill/>
          </a:ln>
        </p:spPr>
        <p:txBody>
          <a:bodyPr spcFirstLastPara="1" wrap="square" lIns="0" tIns="0" rIns="0" bIns="0" anchor="ctr">
            <a:no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pic>
        <p:nvPicPr>
          <p:cNvPr id="41" name="Graphic 3"/>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1700" y="4590950"/>
            <a:ext cx="1079629" cy="47438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3" name="Google Shape;8;p1">
            <a:extLst>
              <a:ext uri="{FF2B5EF4-FFF2-40B4-BE49-F238E27FC236}">
                <a16:creationId xmlns:a16="http://schemas.microsoft.com/office/drawing/2014/main" id="{89960294-1123-63DF-687F-D7F4BCC98557}"/>
              </a:ext>
            </a:extLst>
          </p:cNvPr>
          <p:cNvSpPr>
            <a:spLocks noGrp="1"/>
          </p:cNvSpPr>
          <p:nvPr>
            <p:ph type="sldNum" idx="12"/>
          </p:nvPr>
        </p:nvSpPr>
        <p:spPr>
          <a:xfrm>
            <a:off x="8283600" y="4663217"/>
            <a:ext cx="548700" cy="393600"/>
          </a:xfrm>
          <a:prstGeom prst="rect">
            <a:avLst/>
          </a:prstGeom>
          <a:noFill/>
          <a:ln>
            <a:noFill/>
          </a:ln>
        </p:spPr>
        <p:txBody>
          <a:bodyPr spcFirstLastPara="1" wrap="square" lIns="0" tIns="0" rIns="0" bIns="0" anchor="ctr">
            <a:no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pic>
        <p:nvPicPr>
          <p:cNvPr id="6" name="Graphic 3"/>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1700" y="4590950"/>
            <a:ext cx="1079629" cy="47438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FBD54326-EE23-44A5-BA94-9C0B5B3FC40C}"/>
              </a:ext>
            </a:extLst>
          </p:cNvPr>
          <p:cNvSpPr>
            <a:spLocks noGrp="1"/>
          </p:cNvSpPr>
          <p:nvPr>
            <p:ph type="title"/>
          </p:nvPr>
        </p:nvSpPr>
        <p:spPr>
          <a:xfrm>
            <a:off x="311700" y="445025"/>
            <a:ext cx="8520600" cy="572700"/>
          </a:xfrm>
          <a:prstGeom prst="rect">
            <a:avLst/>
          </a:prstGeom>
          <a:noFill/>
          <a:ln>
            <a:noFill/>
          </a:ln>
        </p:spPr>
        <p:txBody>
          <a:bodyPr spcFirstLastPara="1" wrap="square" lIns="0" tIns="0" rIns="0" bIns="0" anchor="ctr">
            <a:noAutofit/>
          </a:bodyPr>
          <a:lstStyle>
            <a:lvl1pPr>
              <a:spcBef>
                <a:spcPts val="0"/>
              </a:spcBef>
              <a:spcAft>
                <a:spcPts val="0"/>
              </a:spcAft>
              <a:buClr>
                <a:schemeClr val="accent1"/>
              </a:buClr>
              <a:buSzPts val="2800"/>
              <a:buNone/>
              <a:defRPr sz="2800">
                <a:solidFill>
                  <a:schemeClr val="accent1"/>
                </a:solidFill>
              </a:defRPr>
            </a:lvl1pPr>
            <a:lvl2pPr>
              <a:spcBef>
                <a:spcPts val="0"/>
              </a:spcBef>
              <a:spcAft>
                <a:spcPts val="0"/>
              </a:spcAft>
              <a:buClr>
                <a:schemeClr val="accent1"/>
              </a:buClr>
              <a:buSzPts val="2800"/>
              <a:buNone/>
              <a:defRPr sz="2800">
                <a:solidFill>
                  <a:schemeClr val="accent1"/>
                </a:solidFill>
              </a:defRPr>
            </a:lvl2pPr>
            <a:lvl3pPr>
              <a:spcBef>
                <a:spcPts val="0"/>
              </a:spcBef>
              <a:spcAft>
                <a:spcPts val="0"/>
              </a:spcAft>
              <a:buClr>
                <a:schemeClr val="accent1"/>
              </a:buClr>
              <a:buSzPts val="2800"/>
              <a:buNone/>
              <a:defRPr sz="2800">
                <a:solidFill>
                  <a:schemeClr val="accent1"/>
                </a:solidFill>
              </a:defRPr>
            </a:lvl3pPr>
            <a:lvl4pPr>
              <a:spcBef>
                <a:spcPts val="0"/>
              </a:spcBef>
              <a:spcAft>
                <a:spcPts val="0"/>
              </a:spcAft>
              <a:buClr>
                <a:schemeClr val="accent1"/>
              </a:buClr>
              <a:buSzPts val="2800"/>
              <a:buNone/>
              <a:defRPr sz="2800">
                <a:solidFill>
                  <a:schemeClr val="accent1"/>
                </a:solidFill>
              </a:defRPr>
            </a:lvl4pPr>
            <a:lvl5pPr>
              <a:spcBef>
                <a:spcPts val="0"/>
              </a:spcBef>
              <a:spcAft>
                <a:spcPts val="0"/>
              </a:spcAft>
              <a:buClr>
                <a:schemeClr val="accent1"/>
              </a:buClr>
              <a:buSzPts val="2800"/>
              <a:buNone/>
              <a:defRPr sz="2800">
                <a:solidFill>
                  <a:schemeClr val="accent1"/>
                </a:solidFill>
              </a:defRPr>
            </a:lvl5pPr>
            <a:lvl6pPr>
              <a:spcBef>
                <a:spcPts val="0"/>
              </a:spcBef>
              <a:spcAft>
                <a:spcPts val="0"/>
              </a:spcAft>
              <a:buClr>
                <a:schemeClr val="accent1"/>
              </a:buClr>
              <a:buSzPts val="2800"/>
              <a:buNone/>
              <a:defRPr sz="2800">
                <a:solidFill>
                  <a:schemeClr val="accent1"/>
                </a:solidFill>
              </a:defRPr>
            </a:lvl6pPr>
            <a:lvl7pPr>
              <a:spcBef>
                <a:spcPts val="0"/>
              </a:spcBef>
              <a:spcAft>
                <a:spcPts val="0"/>
              </a:spcAft>
              <a:buClr>
                <a:schemeClr val="accent1"/>
              </a:buClr>
              <a:buSzPts val="2800"/>
              <a:buNone/>
              <a:defRPr sz="2800">
                <a:solidFill>
                  <a:schemeClr val="accent1"/>
                </a:solidFill>
              </a:defRPr>
            </a:lvl7pPr>
            <a:lvl8pPr>
              <a:spcBef>
                <a:spcPts val="0"/>
              </a:spcBef>
              <a:spcAft>
                <a:spcPts val="0"/>
              </a:spcAft>
              <a:buClr>
                <a:schemeClr val="accent1"/>
              </a:buClr>
              <a:buSzPts val="2800"/>
              <a:buNone/>
              <a:defRPr sz="2800">
                <a:solidFill>
                  <a:schemeClr val="accent1"/>
                </a:solidFill>
              </a:defRPr>
            </a:lvl8pPr>
            <a:lvl9pPr>
              <a:spcBef>
                <a:spcPts val="0"/>
              </a:spcBef>
              <a:spcAft>
                <a:spcPts val="0"/>
              </a:spcAft>
              <a:buClr>
                <a:schemeClr val="accent1"/>
              </a:buClr>
              <a:buSzPts val="2800"/>
              <a:buNone/>
              <a:defRPr sz="2800">
                <a:solidFill>
                  <a:schemeClr val="accent1"/>
                </a:solidFill>
              </a:defRPr>
            </a:lvl9pPr>
          </a:lstStyle>
          <a:p>
            <a:endParaRPr/>
          </a:p>
        </p:txBody>
      </p:sp>
      <p:sp>
        <p:nvSpPr>
          <p:cNvPr id="7" name="Google Shape;7;p1">
            <a:extLst>
              <a:ext uri="{FF2B5EF4-FFF2-40B4-BE49-F238E27FC236}">
                <a16:creationId xmlns:a16="http://schemas.microsoft.com/office/drawing/2014/main" id="{C0E13285-6719-48F3-9C69-6C49EA0824D6}"/>
              </a:ext>
            </a:extLst>
          </p:cNvPr>
          <p:cNvSpPr>
            <a:spLocks noGrp="1"/>
          </p:cNvSpPr>
          <p:nvPr>
            <p:ph type="body" idx="1"/>
          </p:nvPr>
        </p:nvSpPr>
        <p:spPr>
          <a:xfrm>
            <a:off x="311700" y="1152475"/>
            <a:ext cx="8520600" cy="3416400"/>
          </a:xfrm>
          <a:prstGeom prst="rect">
            <a:avLst/>
          </a:prstGeom>
          <a:noFill/>
          <a:ln>
            <a:noFill/>
          </a:ln>
        </p:spPr>
        <p:txBody>
          <a:bodyPr spcFirstLastPara="1" wrap="square" lIns="0" tIns="0" rIns="0" bIns="0" anchor="t">
            <a:noAutofit/>
          </a:bodyPr>
          <a:lstStyle>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a:extLst>
              <a:ext uri="{FF2B5EF4-FFF2-40B4-BE49-F238E27FC236}">
                <a16:creationId xmlns:a16="http://schemas.microsoft.com/office/drawing/2014/main" id="{2F6BDC41-5A7E-43B7-8820-20DE2A50C6F8}"/>
              </a:ext>
            </a:extLst>
          </p:cNvPr>
          <p:cNvSpPr>
            <a:spLocks noGrp="1"/>
          </p:cNvSpPr>
          <p:nvPr>
            <p:ph type="sldNum" idx="12"/>
          </p:nvPr>
        </p:nvSpPr>
        <p:spPr>
          <a:xfrm>
            <a:off x="8283600" y="4663217"/>
            <a:ext cx="548700" cy="393600"/>
          </a:xfrm>
          <a:prstGeom prst="rect">
            <a:avLst/>
          </a:prstGeom>
          <a:noFill/>
          <a:ln>
            <a:noFill/>
          </a:ln>
        </p:spPr>
        <p:txBody>
          <a:bodyPr spcFirstLastPara="1" wrap="square" lIns="0" tIns="0" rIns="0" bIns="0" anchor="ctr">
            <a:noAutofit/>
          </a:bodyPr>
          <a:lstStyle>
            <a:lvl1pPr algn="r">
              <a:buNone/>
              <a:defRPr sz="1000" b="1" i="0">
                <a:solidFill>
                  <a:schemeClr val="dk2"/>
                </a:solidFill>
                <a:latin typeface="Clarity City"/>
                <a:ea typeface="Clarity City"/>
                <a:cs typeface="Clarity City"/>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marR="0" algn="l">
        <a:lnSpc>
          <a:spcPct val="100000"/>
        </a:lnSpc>
        <a:spcBef>
          <a:spcPts val="0"/>
        </a:spcBef>
        <a:spcAft>
          <a:spcPts val="0"/>
        </a:spcAft>
        <a:buClr>
          <a:srgbClr val="000000"/>
        </a:buClr>
        <a:buFont typeface="Arial"/>
        <a:buNone/>
        <a:defRPr sz="1400" b="1" i="0" u="none" cap="none">
          <a:solidFill>
            <a:srgbClr val="3939D9"/>
          </a:solidFill>
          <a:latin typeface="Clarity City"/>
          <a:ea typeface="Clarity City"/>
          <a:cs typeface="Clarity City"/>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600" b="0" i="0" u="none" cap="none">
          <a:solidFill>
            <a:srgbClr val="000000"/>
          </a:solidFill>
          <a:latin typeface="Clarity City"/>
          <a:ea typeface="Clarity City"/>
          <a:cs typeface="Clarity City"/>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3D73-053E-C445-36DA-CFC138907C5A}"/>
              </a:ext>
            </a:extLst>
          </p:cNvPr>
          <p:cNvSpPr>
            <a:spLocks noGrp="1"/>
          </p:cNvSpPr>
          <p:nvPr>
            <p:ph type="ctrTitle"/>
          </p:nvPr>
        </p:nvSpPr>
        <p:spPr>
          <a:xfrm>
            <a:off x="398302" y="1556246"/>
            <a:ext cx="8010201" cy="1198383"/>
          </a:xfrm>
        </p:spPr>
        <p:txBody>
          <a:bodyPr/>
          <a:lstStyle/>
          <a:p>
            <a:r>
              <a:rPr sz="3600"/>
              <a:t>Sandbox for Agentic Application with Cloud Native Stack</a:t>
            </a:r>
          </a:p>
        </p:txBody>
      </p:sp>
      <p:sp>
        <p:nvSpPr>
          <p:cNvPr id="3" name="Subtitle 2">
            <a:extLst>
              <a:ext uri="{FF2B5EF4-FFF2-40B4-BE49-F238E27FC236}">
                <a16:creationId xmlns:a16="http://schemas.microsoft.com/office/drawing/2014/main" id="{E82210E2-AA8D-B4C1-53B4-5EE54D0E3F32}"/>
              </a:ext>
            </a:extLst>
          </p:cNvPr>
          <p:cNvSpPr>
            <a:spLocks noGrp="1"/>
          </p:cNvSpPr>
          <p:nvPr>
            <p:ph type="subTitle" idx="1"/>
          </p:nvPr>
        </p:nvSpPr>
        <p:spPr/>
        <p:txBody>
          <a:bodyPr/>
          <a:lstStyle/>
          <a:p>
            <a:r>
              <a:t>Xu Wang · Ant Group &amp; Kata Containers</a:t>
            </a:r>
          </a:p>
          <a:p>
            <a:r>
              <a:t>Yu Hu · Japan AI</a:t>
            </a:r>
          </a:p>
        </p:txBody>
      </p:sp>
    </p:spTree>
    <p:extLst>
      <p:ext uri="{BB962C8B-B14F-4D97-AF65-F5344CB8AC3E}">
        <p14:creationId xmlns:p14="http://schemas.microsoft.com/office/powerpoint/2010/main" val="111342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1EF65-77BD-3AF9-068F-F5767164EADB}"/>
              </a:ext>
            </a:extLst>
          </p:cNvPr>
          <p:cNvSpPr>
            <a:spLocks noGrp="1"/>
          </p:cNvSpPr>
          <p:nvPr>
            <p:ph type="title"/>
          </p:nvPr>
        </p:nvSpPr>
        <p:spPr/>
        <p:txBody>
          <a:bodyPr/>
          <a:lstStyle/>
          <a:p>
            <a:r>
              <a:t>Agent tools need a stronger boundary</a:t>
            </a:r>
          </a:p>
        </p:txBody>
      </p:sp>
      <p:sp>
        <p:nvSpPr>
          <p:cNvPr id="3" name="Text Placeholder 2">
            <a:extLst>
              <a:ext uri="{FF2B5EF4-FFF2-40B4-BE49-F238E27FC236}">
                <a16:creationId xmlns:a16="http://schemas.microsoft.com/office/drawing/2014/main" id="{B02553B4-806A-6C62-6308-DF9EB348572B}"/>
              </a:ext>
            </a:extLst>
          </p:cNvPr>
          <p:cNvSpPr>
            <a:spLocks noGrp="1"/>
          </p:cNvSpPr>
          <p:nvPr>
            <p:ph type="body" idx="1"/>
          </p:nvPr>
        </p:nvSpPr>
        <p:spPr/>
        <p:txBody>
          <a:bodyPr/>
          <a:lstStyle/>
          <a:p>
            <a:pPr>
              <a:spcAft>
                <a:spcPts val="22"/>
              </a:spcAft>
              <a:buNone/>
            </a:pPr>
            <a:r>
              <a:rPr b="1"/>
              <a:t>An agent can write code, invoke tools, install packages, and follow network paths.</a:t>
            </a:r>
          </a:p>
          <a:p>
            <a:pPr>
              <a:spcAft>
                <a:spcPts val="14"/>
              </a:spcAft>
              <a:buNone/>
            </a:pPr>
            <a:r>
              <a:rPr b="1">
                <a:solidFill>
                  <a:srgbClr val="3939D8"/>
                </a:solidFill>
              </a:rPr>
              <a:t>Untrusted input · </a:t>
            </a:r>
            <a:r>
              <a:t>The prompt is not a trust boundary.</a:t>
            </a:r>
          </a:p>
          <a:p>
            <a:pPr>
              <a:spcAft>
                <a:spcPts val="14"/>
              </a:spcAft>
              <a:buNone/>
            </a:pPr>
            <a:r>
              <a:rPr b="1">
                <a:solidFill>
                  <a:srgbClr val="3939D8"/>
                </a:solidFill>
              </a:rPr>
              <a:t>Useful credentials · </a:t>
            </a:r>
            <a:r>
              <a:t>The workload may reach data, tokens, and internal services.</a:t>
            </a:r>
          </a:p>
          <a:p>
            <a:pPr>
              <a:spcAft>
                <a:spcPts val="14"/>
              </a:spcAft>
              <a:buNone/>
            </a:pPr>
            <a:r>
              <a:rPr b="1">
                <a:solidFill>
                  <a:srgbClr val="3939D8"/>
                </a:solidFill>
              </a:rPr>
              <a:t>Long-lived loops · </a:t>
            </a:r>
            <a:r>
              <a:t>A failed task can leave processes, storage, network access, and cost behind.</a:t>
            </a:r>
          </a:p>
          <a:p>
            <a:pPr>
              <a:spcAft>
                <a:spcPts val="0"/>
              </a:spcAft>
              <a:buNone/>
            </a:pPr>
            <a:r>
              <a:rPr b="1">
                <a:solidFill>
                  <a:srgbClr val="3939D8"/>
                </a:solidFill>
              </a:rPr>
              <a:t>Execution needs an explicit security and lifecycle boundary.</a:t>
            </a:r>
          </a:p>
        </p:txBody>
      </p:sp>
    </p:spTree>
    <p:extLst>
      <p:ext uri="{BB962C8B-B14F-4D97-AF65-F5344CB8AC3E}">
        <p14:creationId xmlns:p14="http://schemas.microsoft.com/office/powerpoint/2010/main" val="1659535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F4F0504-53E1-3FC7-6E98-EC2C5C45B47A}"/>
              </a:ext>
            </a:extLst>
          </p:cNvPr>
          <p:cNvSpPr>
            <a:spLocks noGrp="1"/>
          </p:cNvSpPr>
          <p:nvPr>
            <p:ph type="body" idx="1"/>
          </p:nvPr>
        </p:nvSpPr>
        <p:spPr/>
        <p:txBody>
          <a:bodyPr/>
          <a:lstStyle/>
          <a:p>
            <a:pPr>
              <a:spcAft>
                <a:spcPts val="24"/>
              </a:spcAft>
              <a:buNone/>
            </a:pPr>
            <a:r>
              <a:rPr b="1">
                <a:solidFill>
                  <a:srgbClr val="3939D8"/>
                </a:solidFill>
              </a:rPr>
              <a:t>Create  →  configure  →  execute  →  observe  →  reset  →  destroy</a:t>
            </a:r>
          </a:p>
          <a:p>
            <a:pPr>
              <a:spcAft>
                <a:spcPts val="14"/>
              </a:spcAft>
              <a:buNone/>
            </a:pPr>
            <a:r>
              <a:rPr b="1">
                <a:solidFill>
                  <a:srgbClr val="3939D8"/>
                </a:solidFill>
              </a:rPr>
              <a:t>Before start · </a:t>
            </a:r>
            <a:r>
              <a:t>Bind identity, policy, resources, runtime, and image inputs.</a:t>
            </a:r>
          </a:p>
          <a:p>
            <a:pPr>
              <a:spcAft>
                <a:spcPts val="14"/>
              </a:spcAft>
              <a:buNone/>
            </a:pPr>
            <a:r>
              <a:rPr b="1">
                <a:solidFill>
                  <a:srgbClr val="3939D8"/>
                </a:solidFill>
              </a:rPr>
              <a:t>During execution · </a:t>
            </a:r>
            <a:r>
              <a:t>Expose only the filesystem, network, credentials, and tools the task requires.</a:t>
            </a:r>
          </a:p>
          <a:p>
            <a:pPr>
              <a:spcAft>
                <a:spcPts val="14"/>
              </a:spcAft>
              <a:buNone/>
            </a:pPr>
            <a:r>
              <a:rPr b="1">
                <a:solidFill>
                  <a:srgbClr val="3939D8"/>
                </a:solidFill>
              </a:rPr>
              <a:t>After execution · </a:t>
            </a:r>
            <a:r>
              <a:t>Collect evidence, remove resources, revoke access, and release capacity—even on failure.</a:t>
            </a:r>
          </a:p>
          <a:p>
            <a:pPr>
              <a:spcAft>
                <a:spcPts val="0"/>
              </a:spcAft>
              <a:buNone/>
            </a:pPr>
            <a:r>
              <a:rPr b="1"/>
              <a:t>A Pod is one object inside this lifecycle; it is not the lifecycle itself.</a:t>
            </a:r>
          </a:p>
        </p:txBody>
      </p:sp>
      <p:sp>
        <p:nvSpPr>
          <p:cNvPr id="4" name="KubeCon header background">
            <a:extLst>
              <a:ext uri="{FF2B5EF4-FFF2-40B4-BE49-F238E27FC236}">
                <a16:creationId xmlns:a16="http://schemas.microsoft.com/office/drawing/2014/main" id="{7CAFB102-481C-48F7-8A26-D04A0C7AE0D7}"/>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9" name="图形 8"/>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9B8FFA6D-617C-03C7-E339-4FCF2D28A31D}"/>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A sandbox is a lifecycle—not a Pod</a:t>
            </a:r>
          </a:p>
        </p:txBody>
      </p:sp>
    </p:spTree>
    <p:extLst>
      <p:ext uri="{BB962C8B-B14F-4D97-AF65-F5344CB8AC3E}">
        <p14:creationId xmlns:p14="http://schemas.microsoft.com/office/powerpoint/2010/main" val="4198380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B2A2A4-192E-3B9D-4591-457BCD33F865}"/>
              </a:ext>
            </a:extLst>
          </p:cNvPr>
          <p:cNvSpPr>
            <a:spLocks noGrp="1"/>
          </p:cNvSpPr>
          <p:nvPr>
            <p:ph type="body" idx="1"/>
          </p:nvPr>
        </p:nvSpPr>
        <p:spPr/>
        <p:txBody>
          <a:bodyPr/>
          <a:lstStyle/>
          <a:p>
            <a:pPr>
              <a:spcAft>
                <a:spcPts val="18"/>
              </a:spcAft>
              <a:buNone/>
            </a:pPr>
            <a:r>
              <a:rPr b="1">
                <a:solidFill>
                  <a:srgbClr val="3939D8"/>
                </a:solidFill>
              </a:rPr>
              <a:t>SHARED-KERNEL CONTAINER</a:t>
            </a:r>
          </a:p>
          <a:p>
            <a:pPr>
              <a:spcAft>
                <a:spcPts val="12"/>
              </a:spcAft>
              <a:buNone/>
            </a:pPr>
            <a:r>
              <a:rPr b="0"/>
              <a:t>Fast startup and high density</a:t>
            </a:r>
          </a:p>
          <a:p>
            <a:pPr>
              <a:spcAft>
                <a:spcPts val="12"/>
              </a:spcAft>
              <a:buNone/>
            </a:pPr>
            <a:r>
              <a:rPr b="0"/>
              <a:t>Mature OCI and Kubernetes workflow</a:t>
            </a:r>
          </a:p>
          <a:p>
            <a:pPr>
              <a:spcAft>
                <a:spcPts val="12"/>
              </a:spcAft>
              <a:buNone/>
            </a:pPr>
            <a:r>
              <a:rPr b="0"/>
              <a:t>The host kernel remains the shared trust boundary</a:t>
            </a:r>
          </a:p>
        </p:txBody>
      </p:sp>
      <p:sp>
        <p:nvSpPr>
          <p:cNvPr id="4" name="Text Placeholder 3">
            <a:extLst>
              <a:ext uri="{FF2B5EF4-FFF2-40B4-BE49-F238E27FC236}">
                <a16:creationId xmlns:a16="http://schemas.microsoft.com/office/drawing/2014/main" id="{3864F587-4A71-B1B9-FAD1-6361775AB840}"/>
              </a:ext>
            </a:extLst>
          </p:cNvPr>
          <p:cNvSpPr>
            <a:spLocks noGrp="1"/>
          </p:cNvSpPr>
          <p:nvPr>
            <p:ph type="body" idx="2"/>
          </p:nvPr>
        </p:nvSpPr>
        <p:spPr/>
        <p:txBody>
          <a:bodyPr/>
          <a:lstStyle/>
          <a:p>
            <a:pPr>
              <a:spcAft>
                <a:spcPts val="18"/>
              </a:spcAft>
              <a:buNone/>
            </a:pPr>
            <a:r>
              <a:rPr b="1">
                <a:solidFill>
                  <a:srgbClr val="3939D8"/>
                </a:solidFill>
              </a:rPr>
              <a:t>VM-BACKED SANDBOX</a:t>
            </a:r>
          </a:p>
          <a:p>
            <a:pPr>
              <a:spcAft>
                <a:spcPts val="12"/>
              </a:spcAft>
              <a:buNone/>
            </a:pPr>
            <a:r>
              <a:rPr b="0"/>
              <a:t>A guest kernel per sandbox boundary</a:t>
            </a:r>
          </a:p>
          <a:p>
            <a:pPr>
              <a:spcAft>
                <a:spcPts val="12"/>
              </a:spcAft>
              <a:buNone/>
            </a:pPr>
            <a:r>
              <a:rPr b="0"/>
              <a:t>Kata preserves the container workflow</a:t>
            </a:r>
          </a:p>
          <a:p>
            <a:pPr>
              <a:spcAft>
                <a:spcPts val="12"/>
              </a:spcAft>
              <a:buNone/>
            </a:pPr>
            <a:r>
              <a:rPr b="0"/>
              <a:t>Startup and memory overhead must be engineered, not ignored</a:t>
            </a:r>
          </a:p>
        </p:txBody>
      </p:sp>
      <p:sp>
        <p:nvSpPr>
          <p:cNvPr id="5" name="KubeCon header background">
            <a:extLst>
              <a:ext uri="{FF2B5EF4-FFF2-40B4-BE49-F238E27FC236}">
                <a16:creationId xmlns:a16="http://schemas.microsoft.com/office/drawing/2014/main" id="{9C6532FA-C2C7-446E-AA84-84D77BE0BA32}"/>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11" name="图形 10"/>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26315FC3-40BE-407D-92F3-C4C06CB3691C}"/>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Strong isolation needs a separate kernel</a:t>
            </a:r>
          </a:p>
        </p:txBody>
      </p:sp>
    </p:spTree>
    <p:extLst>
      <p:ext uri="{BB962C8B-B14F-4D97-AF65-F5344CB8AC3E}">
        <p14:creationId xmlns:p14="http://schemas.microsoft.com/office/powerpoint/2010/main" val="1317687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3D73-053E-C445-36DA-CFC138907C5A}"/>
              </a:ext>
            </a:extLst>
          </p:cNvPr>
          <p:cNvSpPr>
            <a:spLocks noGrp="1"/>
          </p:cNvSpPr>
          <p:nvPr>
            <p:ph type="ctrTitle"/>
          </p:nvPr>
        </p:nvSpPr>
        <p:spPr/>
        <p:txBody>
          <a:bodyPr/>
          <a:lstStyle/>
          <a:p>
            <a:r>
              <a:t>Compose, do not reinvent</a:t>
            </a:r>
          </a:p>
        </p:txBody>
      </p:sp>
      <p:sp>
        <p:nvSpPr>
          <p:cNvPr id="3" name="Subtitle 2">
            <a:extLst>
              <a:ext uri="{FF2B5EF4-FFF2-40B4-BE49-F238E27FC236}">
                <a16:creationId xmlns:a16="http://schemas.microsoft.com/office/drawing/2014/main" id="{E82210E2-AA8D-B4C1-53B4-5EE54D0E3F32}"/>
              </a:ext>
            </a:extLst>
          </p:cNvPr>
          <p:cNvSpPr>
            <a:spLocks noGrp="1"/>
          </p:cNvSpPr>
          <p:nvPr>
            <p:ph type="subTitle" idx="1"/>
          </p:nvPr>
        </p:nvSpPr>
        <p:spPr/>
        <p:txBody>
          <a:bodyPr/>
          <a:lstStyle/>
          <a:p>
            <a:r>
              <a:t>Control plane · runtime · images · lifecycle</a:t>
            </a:r>
          </a:p>
        </p:txBody>
      </p:sp>
    </p:spTree>
    <p:extLst>
      <p:ext uri="{BB962C8B-B14F-4D97-AF65-F5344CB8AC3E}">
        <p14:creationId xmlns:p14="http://schemas.microsoft.com/office/powerpoint/2010/main" val="1113421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tack-layer-1">
            <a:extLst>
              <a:ext uri="{FF2B5EF4-FFF2-40B4-BE49-F238E27FC236}">
                <a16:creationId xmlns:a16="http://schemas.microsoft.com/office/drawing/2014/main" id="{64868D72-0FEC-4951-947C-897BE826CDA3}"/>
              </a:ext>
            </a:extLst>
          </p:cNvPr>
          <p:cNvSpPr>
            <a:spLocks noGrp="1"/>
          </p:cNvSpPr>
          <p:nvPr/>
        </p:nvSpPr>
        <p:spPr>
          <a:xfrm>
            <a:off x="457200" y="1219200"/>
            <a:ext cx="5562600" cy="409575"/>
          </a:xfrm>
          <a:prstGeom prst="roundRect">
            <a:avLst>
              <a:gd name="adj" fmla="val 13953"/>
            </a:avLst>
          </a:prstGeom>
          <a:solidFill>
            <a:srgbClr val="E7F3FF"/>
          </a:solidFill>
          <a:ln w="9525">
            <a:solidFill>
              <a:srgbClr val="E7F3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Agentic application</a:t>
            </a:r>
          </a:p>
        </p:txBody>
      </p:sp>
      <p:sp>
        <p:nvSpPr>
          <p:cNvPr id="4" name="stack-layer-2">
            <a:extLst>
              <a:ext uri="{FF2B5EF4-FFF2-40B4-BE49-F238E27FC236}">
                <a16:creationId xmlns:a16="http://schemas.microsoft.com/office/drawing/2014/main" id="{30C7E876-F607-47C8-9935-AE48626CB565}"/>
              </a:ext>
            </a:extLst>
          </p:cNvPr>
          <p:cNvSpPr>
            <a:spLocks noGrp="1"/>
          </p:cNvSpPr>
          <p:nvPr/>
        </p:nvSpPr>
        <p:spPr>
          <a:xfrm>
            <a:off x="457200" y="1704975"/>
            <a:ext cx="5562600" cy="409575"/>
          </a:xfrm>
          <a:prstGeom prst="roundRect">
            <a:avLst>
              <a:gd name="adj" fmla="val 13953"/>
            </a:avLst>
          </a:prstGeom>
          <a:solidFill>
            <a:srgbClr val="B0DDFF"/>
          </a:solidFill>
          <a:ln w="9525">
            <a:solidFill>
              <a:srgbClr val="B0DD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Kubernetes Agent Sandbox API</a:t>
            </a:r>
          </a:p>
        </p:txBody>
      </p:sp>
      <p:sp>
        <p:nvSpPr>
          <p:cNvPr id="5" name="stack-layer-3">
            <a:extLst>
              <a:ext uri="{FF2B5EF4-FFF2-40B4-BE49-F238E27FC236}">
                <a16:creationId xmlns:a16="http://schemas.microsoft.com/office/drawing/2014/main" id="{0C9414BF-43B1-4E5D-B2B1-1D58FD9DE7D8}"/>
              </a:ext>
            </a:extLst>
          </p:cNvPr>
          <p:cNvSpPr>
            <a:spLocks noGrp="1"/>
          </p:cNvSpPr>
          <p:nvPr/>
        </p:nvSpPr>
        <p:spPr>
          <a:xfrm>
            <a:off x="457200" y="2190750"/>
            <a:ext cx="5562600" cy="409575"/>
          </a:xfrm>
          <a:prstGeom prst="roundRect">
            <a:avLst>
              <a:gd name="adj" fmla="val 13953"/>
            </a:avLst>
          </a:prstGeom>
          <a:solidFill>
            <a:srgbClr val="D8E4FF"/>
          </a:solidFill>
          <a:ln w="9525">
            <a:solidFill>
              <a:srgbClr val="D8E4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Kubernetes scheduling · RuntimeClass · CRI</a:t>
            </a:r>
          </a:p>
        </p:txBody>
      </p:sp>
      <p:sp>
        <p:nvSpPr>
          <p:cNvPr id="6" name="stack-layer-4">
            <a:extLst>
              <a:ext uri="{FF2B5EF4-FFF2-40B4-BE49-F238E27FC236}">
                <a16:creationId xmlns:a16="http://schemas.microsoft.com/office/drawing/2014/main" id="{807D650A-B939-4593-81AE-CD7434A756FC}"/>
              </a:ext>
            </a:extLst>
          </p:cNvPr>
          <p:cNvSpPr>
            <a:spLocks noGrp="1"/>
          </p:cNvSpPr>
          <p:nvPr/>
        </p:nvSpPr>
        <p:spPr>
          <a:xfrm>
            <a:off x="457200" y="2676525"/>
            <a:ext cx="5562600" cy="409575"/>
          </a:xfrm>
          <a:prstGeom prst="roundRect">
            <a:avLst>
              <a:gd name="adj" fmla="val 13953"/>
            </a:avLst>
          </a:prstGeom>
          <a:solidFill>
            <a:srgbClr val="E6E6FF"/>
          </a:solidFill>
          <a:ln w="9525">
            <a:solidFill>
              <a:srgbClr val="E6E6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containerd · Nydus snapshotter</a:t>
            </a:r>
          </a:p>
        </p:txBody>
      </p:sp>
      <p:sp>
        <p:nvSpPr>
          <p:cNvPr id="7" name="stack-layer-5">
            <a:extLst>
              <a:ext uri="{FF2B5EF4-FFF2-40B4-BE49-F238E27FC236}">
                <a16:creationId xmlns:a16="http://schemas.microsoft.com/office/drawing/2014/main" id="{63424A54-871C-405C-859B-E39B15E42666}"/>
              </a:ext>
            </a:extLst>
          </p:cNvPr>
          <p:cNvSpPr>
            <a:spLocks noGrp="1"/>
          </p:cNvSpPr>
          <p:nvPr/>
        </p:nvSpPr>
        <p:spPr>
          <a:xfrm>
            <a:off x="457200" y="3162300"/>
            <a:ext cx="5562600" cy="409575"/>
          </a:xfrm>
          <a:prstGeom prst="roundRect">
            <a:avLst>
              <a:gd name="adj" fmla="val 13953"/>
            </a:avLst>
          </a:prstGeom>
          <a:solidFill>
            <a:srgbClr val="B9B9FF"/>
          </a:solidFill>
          <a:ln w="9525">
            <a:solidFill>
              <a:srgbClr val="B9B9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Kata runtime-rs · Dragonball VMM</a:t>
            </a:r>
          </a:p>
        </p:txBody>
      </p:sp>
      <p:sp>
        <p:nvSpPr>
          <p:cNvPr id="8" name="stack-layer-6">
            <a:extLst>
              <a:ext uri="{FF2B5EF4-FFF2-40B4-BE49-F238E27FC236}">
                <a16:creationId xmlns:a16="http://schemas.microsoft.com/office/drawing/2014/main" id="{78D69A80-366F-44BB-B5C3-32630C8F69D1}"/>
              </a:ext>
            </a:extLst>
          </p:cNvPr>
          <p:cNvSpPr>
            <a:spLocks noGrp="1"/>
          </p:cNvSpPr>
          <p:nvPr/>
        </p:nvSpPr>
        <p:spPr>
          <a:xfrm>
            <a:off x="457200" y="3648075"/>
            <a:ext cx="5562600" cy="409575"/>
          </a:xfrm>
          <a:prstGeom prst="roundRect">
            <a:avLst>
              <a:gd name="adj" fmla="val 13953"/>
            </a:avLst>
          </a:prstGeom>
          <a:solidFill>
            <a:srgbClr val="3939D8"/>
          </a:solidFill>
          <a:ln w="9525">
            <a:solidFill>
              <a:srgbClr val="3939D8"/>
            </a:solidFill>
            <a:prstDash val="solid"/>
          </a:ln>
        </p:spPr>
        <p:txBody>
          <a:bodyPr wrap="square" lIns="76200" tIns="57150" rIns="76200" bIns="57150" anchor="ctr">
            <a:normAutofit/>
          </a:bodyPr>
          <a:lstStyle/>
          <a:p>
            <a:pPr algn="ctr">
              <a:buNone/>
              <a:defRPr sz="1275" b="1">
                <a:solidFill>
                  <a:srgbClr val="FFFFFF"/>
                </a:solidFill>
                <a:latin typeface="Clarity City"/>
                <a:ea typeface="Clarity City"/>
                <a:cs typeface="Clarity City"/>
              </a:defRPr>
            </a:pPr>
            <a:r>
              <a:rPr sz="1275" b="1">
                <a:solidFill>
                  <a:srgbClr val="FFFFFF"/>
                </a:solidFill>
                <a:latin typeface="Clarity City"/>
                <a:ea typeface="Clarity City"/>
                <a:cs typeface="Clarity City"/>
              </a:rPr>
              <a:t>KVM / optional PVM · guest kernel boundary</a:t>
            </a:r>
          </a:p>
        </p:txBody>
      </p:sp>
      <p:sp>
        <p:nvSpPr>
          <p:cNvPr id="9" name="image-path-label">
            <a:extLst>
              <a:ext uri="{FF2B5EF4-FFF2-40B4-BE49-F238E27FC236}">
                <a16:creationId xmlns:a16="http://schemas.microsoft.com/office/drawing/2014/main" id="{46248031-05DE-42D4-ABB2-D05D92DBE87C}"/>
              </a:ext>
            </a:extLst>
          </p:cNvPr>
          <p:cNvSpPr>
            <a:spLocks noGrp="1"/>
          </p:cNvSpPr>
          <p:nvPr/>
        </p:nvSpPr>
        <p:spPr>
          <a:xfrm>
            <a:off x="6419850" y="1219200"/>
            <a:ext cx="2209800" cy="228600"/>
          </a:xfrm>
          <a:prstGeom prst="rect">
            <a:avLst/>
          </a:prstGeom>
          <a:noFill/>
          <a:ln w="0">
            <a:noFill/>
            <a:prstDash val="solid"/>
          </a:ln>
        </p:spPr>
        <p:txBody>
          <a:bodyPr wrap="square" lIns="0" tIns="0" rIns="0" bIns="0" anchor="ctr">
            <a:normAutofit/>
          </a:bodyPr>
          <a:lstStyle/>
          <a:p>
            <a:pPr algn="l">
              <a:buNone/>
              <a:defRPr sz="1050" b="1">
                <a:solidFill>
                  <a:srgbClr val="5A6275"/>
                </a:solidFill>
                <a:latin typeface="Clarity City"/>
                <a:ea typeface="Clarity City"/>
                <a:cs typeface="Clarity City"/>
              </a:defRPr>
            </a:pPr>
            <a:r>
              <a:rPr sz="1050" b="1">
                <a:solidFill>
                  <a:srgbClr val="5A6275"/>
                </a:solidFill>
                <a:latin typeface="Clarity City"/>
                <a:ea typeface="Clarity City"/>
                <a:cs typeface="Clarity City"/>
              </a:rPr>
              <a:t>IMAGE PATH</a:t>
            </a:r>
          </a:p>
        </p:txBody>
      </p:sp>
      <p:sp>
        <p:nvSpPr>
          <p:cNvPr id="10" name="registry">
            <a:extLst>
              <a:ext uri="{FF2B5EF4-FFF2-40B4-BE49-F238E27FC236}">
                <a16:creationId xmlns:a16="http://schemas.microsoft.com/office/drawing/2014/main" id="{CD1E5DCE-944B-4721-9F2F-D2B36563C1E2}"/>
              </a:ext>
            </a:extLst>
          </p:cNvPr>
          <p:cNvSpPr>
            <a:spLocks noGrp="1"/>
          </p:cNvSpPr>
          <p:nvPr/>
        </p:nvSpPr>
        <p:spPr>
          <a:xfrm>
            <a:off x="6419850" y="1543050"/>
            <a:ext cx="2209800" cy="552450"/>
          </a:xfrm>
          <a:prstGeom prst="roundRect">
            <a:avLst>
              <a:gd name="adj" fmla="val 13793"/>
            </a:avLst>
          </a:prstGeom>
          <a:solidFill>
            <a:srgbClr val="F3F5F8"/>
          </a:solidFill>
          <a:ln w="9525">
            <a:solidFill>
              <a:srgbClr val="D7DCE5"/>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OCI registry</a:t>
            </a:r>
          </a:p>
        </p:txBody>
      </p:sp>
      <p:sp>
        <p:nvSpPr>
          <p:cNvPr id="11" name="registry-to-dragonfly">
            <a:extLst>
              <a:ext uri="{FF2B5EF4-FFF2-40B4-BE49-F238E27FC236}">
                <a16:creationId xmlns:a16="http://schemas.microsoft.com/office/drawing/2014/main" id="{1ADDC0F9-0507-4715-B47C-9B882FBEECF5}"/>
              </a:ext>
            </a:extLst>
          </p:cNvPr>
          <p:cNvSpPr>
            <a:spLocks noGrp="1"/>
          </p:cNvSpPr>
          <p:nvPr/>
        </p:nvSpPr>
        <p:spPr>
          <a:xfrm>
            <a:off x="7419975" y="2124075"/>
            <a:ext cx="209550" cy="228600"/>
          </a:xfrm>
          <a:prstGeom prst="downArrow">
            <a:avLst/>
          </a:prstGeom>
          <a:solidFill>
            <a:srgbClr val="FFA4B9"/>
          </a:solidFill>
          <a:ln w="0">
            <a:solidFill>
              <a:srgbClr val="FFA4B9"/>
            </a:solidFill>
            <a:prstDash val="solid"/>
          </a:ln>
        </p:spPr>
        <p:txBody>
          <a:bodyPr/>
          <a:lstStyle/>
          <a:p>
            <a:endParaRPr/>
          </a:p>
        </p:txBody>
      </p:sp>
      <p:sp>
        <p:nvSpPr>
          <p:cNvPr id="12" name="dragonfly">
            <a:extLst>
              <a:ext uri="{FF2B5EF4-FFF2-40B4-BE49-F238E27FC236}">
                <a16:creationId xmlns:a16="http://schemas.microsoft.com/office/drawing/2014/main" id="{F8D7E23E-7B66-4479-9DB5-CDA7BF8F405A}"/>
              </a:ext>
            </a:extLst>
          </p:cNvPr>
          <p:cNvSpPr>
            <a:spLocks noGrp="1"/>
          </p:cNvSpPr>
          <p:nvPr/>
        </p:nvSpPr>
        <p:spPr>
          <a:xfrm>
            <a:off x="6419850" y="2381250"/>
            <a:ext cx="2209800" cy="552450"/>
          </a:xfrm>
          <a:prstGeom prst="roundRect">
            <a:avLst>
              <a:gd name="adj" fmla="val 13793"/>
            </a:avLst>
          </a:prstGeom>
          <a:solidFill>
            <a:srgbClr val="FFE3EA"/>
          </a:solidFill>
          <a:ln w="9525">
            <a:solidFill>
              <a:srgbClr val="FFA4B9"/>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Dragonfly distribution</a:t>
            </a:r>
          </a:p>
        </p:txBody>
      </p:sp>
      <p:sp>
        <p:nvSpPr>
          <p:cNvPr id="13" name="dragonfly-to-nydus">
            <a:extLst>
              <a:ext uri="{FF2B5EF4-FFF2-40B4-BE49-F238E27FC236}">
                <a16:creationId xmlns:a16="http://schemas.microsoft.com/office/drawing/2014/main" id="{FC8FDA3E-750E-415F-9E3A-F1B5DF54AC24}"/>
              </a:ext>
            </a:extLst>
          </p:cNvPr>
          <p:cNvSpPr>
            <a:spLocks noGrp="1"/>
          </p:cNvSpPr>
          <p:nvPr/>
        </p:nvSpPr>
        <p:spPr>
          <a:xfrm>
            <a:off x="7419975" y="2962275"/>
            <a:ext cx="209550" cy="228600"/>
          </a:xfrm>
          <a:prstGeom prst="downArrow">
            <a:avLst/>
          </a:prstGeom>
          <a:solidFill>
            <a:srgbClr val="FFA4B9"/>
          </a:solidFill>
          <a:ln w="0">
            <a:solidFill>
              <a:srgbClr val="FFA4B9"/>
            </a:solidFill>
            <a:prstDash val="solid"/>
          </a:ln>
        </p:spPr>
        <p:txBody>
          <a:bodyPr/>
          <a:lstStyle/>
          <a:p>
            <a:endParaRPr/>
          </a:p>
        </p:txBody>
      </p:sp>
      <p:sp>
        <p:nvSpPr>
          <p:cNvPr id="14" name="nydus">
            <a:extLst>
              <a:ext uri="{FF2B5EF4-FFF2-40B4-BE49-F238E27FC236}">
                <a16:creationId xmlns:a16="http://schemas.microsoft.com/office/drawing/2014/main" id="{E7ED1355-8A63-4C88-9D6F-C3DA6B835DE5}"/>
              </a:ext>
            </a:extLst>
          </p:cNvPr>
          <p:cNvSpPr>
            <a:spLocks noGrp="1"/>
          </p:cNvSpPr>
          <p:nvPr/>
        </p:nvSpPr>
        <p:spPr>
          <a:xfrm>
            <a:off x="6419850" y="3219450"/>
            <a:ext cx="2209800" cy="552450"/>
          </a:xfrm>
          <a:prstGeom prst="roundRect">
            <a:avLst>
              <a:gd name="adj" fmla="val 13793"/>
            </a:avLst>
          </a:prstGeom>
          <a:solidFill>
            <a:srgbClr val="E6E6FF"/>
          </a:solidFill>
          <a:ln w="9525">
            <a:solidFill>
              <a:srgbClr val="B9B9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Nydus lazy image</a:t>
            </a:r>
          </a:p>
        </p:txBody>
      </p:sp>
      <p:sp>
        <p:nvSpPr>
          <p:cNvPr id="15" name="stack-boundary-caption">
            <a:extLst>
              <a:ext uri="{FF2B5EF4-FFF2-40B4-BE49-F238E27FC236}">
                <a16:creationId xmlns:a16="http://schemas.microsoft.com/office/drawing/2014/main" id="{7E101915-FB70-46DA-BE87-97E21CBFA669}"/>
              </a:ext>
            </a:extLst>
          </p:cNvPr>
          <p:cNvSpPr>
            <a:spLocks noGrp="1"/>
          </p:cNvSpPr>
          <p:nvPr/>
        </p:nvSpPr>
        <p:spPr>
          <a:xfrm>
            <a:off x="6419850" y="3905250"/>
            <a:ext cx="2209800" cy="342900"/>
          </a:xfrm>
          <a:prstGeom prst="rect">
            <a:avLst/>
          </a:prstGeom>
          <a:noFill/>
          <a:ln w="0">
            <a:noFill/>
            <a:prstDash val="solid"/>
          </a:ln>
        </p:spPr>
        <p:txBody>
          <a:bodyPr wrap="square" lIns="0" tIns="0" rIns="0" bIns="0" anchor="ctr">
            <a:normAutofit fontScale="92500"/>
          </a:bodyPr>
          <a:lstStyle/>
          <a:p>
            <a:pPr algn="ctr">
              <a:buNone/>
              <a:defRPr sz="1050" b="1">
                <a:solidFill>
                  <a:srgbClr val="3939D8"/>
                </a:solidFill>
                <a:latin typeface="Clarity City"/>
                <a:ea typeface="Clarity City"/>
                <a:cs typeface="Clarity City"/>
              </a:defRPr>
            </a:pPr>
            <a:r>
              <a:rPr sz="1050" b="1">
                <a:solidFill>
                  <a:srgbClr val="3939D8"/>
                </a:solidFill>
                <a:latin typeface="Clarity City"/>
                <a:ea typeface="Clarity City"/>
                <a:cs typeface="Clarity City"/>
              </a:rPr>
              <a:t>Control stays declarative.</a:t>
            </a:r>
          </a:p>
          <a:p>
            <a:pPr algn="ctr">
              <a:buNone/>
              <a:defRPr sz="1050" b="1">
                <a:solidFill>
                  <a:srgbClr val="3939D8"/>
                </a:solidFill>
                <a:latin typeface="Clarity City"/>
                <a:ea typeface="Clarity City"/>
                <a:cs typeface="Clarity City"/>
              </a:defRPr>
            </a:pPr>
            <a:r>
              <a:rPr sz="1050" b="1">
                <a:solidFill>
                  <a:srgbClr val="3939D8"/>
                </a:solidFill>
                <a:latin typeface="Clarity City"/>
                <a:ea typeface="Clarity City"/>
                <a:cs typeface="Clarity City"/>
              </a:rPr>
              <a:t>Execution crosses a VM boundary.</a:t>
            </a:r>
          </a:p>
        </p:txBody>
      </p:sp>
      <p:sp>
        <p:nvSpPr>
          <p:cNvPr id="16" name="KubeCon header background">
            <a:extLst>
              <a:ext uri="{FF2B5EF4-FFF2-40B4-BE49-F238E27FC236}">
                <a16:creationId xmlns:a16="http://schemas.microsoft.com/office/drawing/2014/main" id="{DD0D80FD-4EE7-4AFC-9059-DE5B7BECB172}"/>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33" name="图形 32"/>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80002F4E-BDC9-4292-00F6-25D8D1D6E346}"/>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One stack, two planes, one security boundary</a:t>
            </a:r>
          </a:p>
        </p:txBody>
      </p:sp>
    </p:spTree>
    <p:extLst>
      <p:ext uri="{BB962C8B-B14F-4D97-AF65-F5344CB8AC3E}">
        <p14:creationId xmlns:p14="http://schemas.microsoft.com/office/powerpoint/2010/main" val="1581687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B2A2A4-192E-3B9D-4591-457BCD33F865}"/>
              </a:ext>
            </a:extLst>
          </p:cNvPr>
          <p:cNvSpPr>
            <a:spLocks noGrp="1"/>
          </p:cNvSpPr>
          <p:nvPr>
            <p:ph type="body" idx="1"/>
          </p:nvPr>
        </p:nvSpPr>
        <p:spPr/>
        <p:txBody>
          <a:bodyPr/>
          <a:lstStyle/>
          <a:p>
            <a:pPr>
              <a:spcAft>
                <a:spcPts val="18"/>
              </a:spcAft>
              <a:buNone/>
            </a:pPr>
            <a:r>
              <a:rPr b="1">
                <a:solidFill>
                  <a:srgbClr val="3939D8"/>
                </a:solidFill>
              </a:rPr>
              <a:t>DESIRED STATE</a:t>
            </a:r>
          </a:p>
          <a:p>
            <a:pPr>
              <a:spcAft>
                <a:spcPts val="14"/>
              </a:spcAft>
              <a:buNone/>
            </a:pPr>
            <a:r>
              <a:rPr b="1">
                <a:solidFill>
                  <a:srgbClr val="3939D8"/>
                </a:solidFill>
              </a:rPr>
              <a:t>Agent Sandbox · </a:t>
            </a:r>
            <a:r>
              <a:t>Create and manage the sandbox lifecycle declaratively.</a:t>
            </a:r>
          </a:p>
          <a:p>
            <a:pPr>
              <a:spcAft>
                <a:spcPts val="14"/>
              </a:spcAft>
              <a:buNone/>
            </a:pPr>
            <a:r>
              <a:rPr b="1">
                <a:solidFill>
                  <a:srgbClr val="3939D8"/>
                </a:solidFill>
              </a:rPr>
              <a:t>Scheduler · </a:t>
            </a:r>
            <a:r>
              <a:t>Use labels, taints, tolerations, and a dedicated sandbox pool.</a:t>
            </a:r>
          </a:p>
          <a:p>
            <a:pPr>
              <a:spcAft>
                <a:spcPts val="14"/>
              </a:spcAft>
              <a:buNone/>
            </a:pPr>
            <a:r>
              <a:rPr b="1">
                <a:solidFill>
                  <a:srgbClr val="3939D8"/>
                </a:solidFill>
              </a:rPr>
              <a:t>RuntimeClass · </a:t>
            </a:r>
            <a:r>
              <a:t>Select the xolis-kata handler explicitly.</a:t>
            </a:r>
          </a:p>
        </p:txBody>
      </p:sp>
      <p:sp>
        <p:nvSpPr>
          <p:cNvPr id="4" name="Text Placeholder 3">
            <a:extLst>
              <a:ext uri="{FF2B5EF4-FFF2-40B4-BE49-F238E27FC236}">
                <a16:creationId xmlns:a16="http://schemas.microsoft.com/office/drawing/2014/main" id="{3864F587-4A71-B1B9-FAD1-6361775AB840}"/>
              </a:ext>
            </a:extLst>
          </p:cNvPr>
          <p:cNvSpPr>
            <a:spLocks noGrp="1"/>
          </p:cNvSpPr>
          <p:nvPr>
            <p:ph type="body" idx="2"/>
          </p:nvPr>
        </p:nvSpPr>
        <p:spPr/>
        <p:txBody>
          <a:bodyPr/>
          <a:lstStyle/>
          <a:p>
            <a:pPr>
              <a:spcAft>
                <a:spcPts val="18"/>
              </a:spcAft>
              <a:buNone/>
            </a:pPr>
            <a:r>
              <a:rPr b="1">
                <a:solidFill>
                  <a:srgbClr val="3939D8"/>
                </a:solidFill>
              </a:rPr>
              <a:t>NODE CONTRACT</a:t>
            </a:r>
          </a:p>
          <a:p>
            <a:pPr>
              <a:spcAft>
                <a:spcPts val="14"/>
              </a:spcAft>
              <a:buNone/>
            </a:pPr>
            <a:r>
              <a:rPr b="1">
                <a:solidFill>
                  <a:srgbClr val="3939D8"/>
                </a:solidFill>
              </a:rPr>
              <a:t>CRI · </a:t>
            </a:r>
            <a:r>
              <a:t>Keep the standard Kubernetes-to-containerd contract.</a:t>
            </a:r>
          </a:p>
          <a:p>
            <a:pPr>
              <a:spcAft>
                <a:spcPts val="14"/>
              </a:spcAft>
              <a:buNone/>
            </a:pPr>
            <a:r>
              <a:rPr b="1">
                <a:solidFill>
                  <a:srgbClr val="3939D8"/>
                </a:solidFill>
              </a:rPr>
              <a:t>containerd · </a:t>
            </a:r>
            <a:r>
              <a:t>Map the handler to Kata and the image path to Nydus.</a:t>
            </a:r>
          </a:p>
          <a:p>
            <a:pPr>
              <a:spcAft>
                <a:spcPts val="14"/>
              </a:spcAft>
              <a:buNone/>
            </a:pPr>
            <a:r>
              <a:rPr b="1">
                <a:solidFill>
                  <a:srgbClr val="3939D8"/>
                </a:solidFill>
              </a:rPr>
              <a:t>Policy · </a:t>
            </a:r>
            <a:r>
              <a:t>Prevent ordinary workloads from bypassing the sandbox runtime.</a:t>
            </a:r>
          </a:p>
        </p:txBody>
      </p:sp>
      <p:sp>
        <p:nvSpPr>
          <p:cNvPr id="5" name="KubeCon header background">
            <a:extLst>
              <a:ext uri="{FF2B5EF4-FFF2-40B4-BE49-F238E27FC236}">
                <a16:creationId xmlns:a16="http://schemas.microsoft.com/office/drawing/2014/main" id="{403815B8-A4B5-4A8B-B8B7-473AD0FF05D3}"/>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11" name="图形 10"/>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26315FC3-40BE-407D-92F3-C4C06CB3691C}"/>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Kubernetes stays the control plane</a:t>
            </a:r>
          </a:p>
        </p:txBody>
      </p:sp>
    </p:spTree>
    <p:extLst>
      <p:ext uri="{BB962C8B-B14F-4D97-AF65-F5344CB8AC3E}">
        <p14:creationId xmlns:p14="http://schemas.microsoft.com/office/powerpoint/2010/main" val="1317687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KubeCon header background">
            <a:extLst>
              <a:ext uri="{FF2B5EF4-FFF2-40B4-BE49-F238E27FC236}">
                <a16:creationId xmlns:a16="http://schemas.microsoft.com/office/drawing/2014/main" id="{43C16CE4-4CD0-4575-984A-FD0F2BF72A17}"/>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sp>
        <p:nvSpPr>
          <p:cNvPr id="2" name="Title 1">
            <a:extLst>
              <a:ext uri="{FF2B5EF4-FFF2-40B4-BE49-F238E27FC236}">
                <a16:creationId xmlns:a16="http://schemas.microsoft.com/office/drawing/2014/main" id="{26315FC3-40BE-407D-92F3-C4C06CB3691C}"/>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Kata defines the boundary; PVM widens reach</a:t>
            </a:r>
          </a:p>
        </p:txBody>
      </p:sp>
      <p:sp>
        <p:nvSpPr>
          <p:cNvPr id="3" name="Text Placeholder 2">
            <a:extLst>
              <a:ext uri="{FF2B5EF4-FFF2-40B4-BE49-F238E27FC236}">
                <a16:creationId xmlns:a16="http://schemas.microsoft.com/office/drawing/2014/main" id="{5DB2A2A4-192E-3B9D-4591-457BCD33F865}"/>
              </a:ext>
            </a:extLst>
          </p:cNvPr>
          <p:cNvSpPr>
            <a:spLocks noGrp="1"/>
          </p:cNvSpPr>
          <p:nvPr>
            <p:ph type="body" idx="1"/>
          </p:nvPr>
        </p:nvSpPr>
        <p:spPr/>
        <p:txBody>
          <a:bodyPr/>
          <a:lstStyle/>
          <a:p>
            <a:pPr>
              <a:spcAft>
                <a:spcPts val="18"/>
              </a:spcAft>
              <a:buNone/>
            </a:pPr>
            <a:r>
              <a:rPr b="1">
                <a:solidFill>
                  <a:srgbClr val="3939D8"/>
                </a:solidFill>
              </a:rPr>
              <a:t>KATA + DRAGONBALL</a:t>
            </a:r>
          </a:p>
          <a:p>
            <a:pPr>
              <a:spcAft>
                <a:spcPts val="12"/>
              </a:spcAft>
              <a:buNone/>
            </a:pPr>
            <a:r>
              <a:rPr b="0"/>
              <a:t>VM-isolated execution with the container workflow</a:t>
            </a:r>
          </a:p>
          <a:p>
            <a:pPr>
              <a:spcAft>
                <a:spcPts val="12"/>
              </a:spcAft>
              <a:buNone/>
            </a:pPr>
            <a:r>
              <a:rPr b="0"/>
              <a:t>runtime-rs with an embedded VMM path</a:t>
            </a:r>
          </a:p>
          <a:p>
            <a:pPr>
              <a:spcAft>
                <a:spcPts val="12"/>
              </a:spcAft>
              <a:buNone/>
            </a:pPr>
            <a:r>
              <a:rPr b="0"/>
              <a:t>Guest kernel and root filesystem per sandbox</a:t>
            </a:r>
          </a:p>
        </p:txBody>
      </p:sp>
      <p:sp>
        <p:nvSpPr>
          <p:cNvPr id="4" name="Text Placeholder 3">
            <a:extLst>
              <a:ext uri="{FF2B5EF4-FFF2-40B4-BE49-F238E27FC236}">
                <a16:creationId xmlns:a16="http://schemas.microsoft.com/office/drawing/2014/main" id="{3864F587-4A71-B1B9-FAD1-6361775AB840}"/>
              </a:ext>
            </a:extLst>
          </p:cNvPr>
          <p:cNvSpPr>
            <a:spLocks noGrp="1"/>
          </p:cNvSpPr>
          <p:nvPr>
            <p:ph type="body" idx="2"/>
          </p:nvPr>
        </p:nvSpPr>
        <p:spPr/>
        <p:txBody>
          <a:bodyPr/>
          <a:lstStyle/>
          <a:p>
            <a:pPr>
              <a:spcAft>
                <a:spcPts val="18"/>
              </a:spcAft>
              <a:buNone/>
            </a:pPr>
            <a:r>
              <a:rPr b="1">
                <a:solidFill>
                  <a:srgbClr val="3939D8"/>
                </a:solidFill>
              </a:rPr>
              <a:t>KVM + OPTIONAL PVM</a:t>
            </a:r>
          </a:p>
          <a:p>
            <a:pPr>
              <a:spcAft>
                <a:spcPts val="12"/>
              </a:spcAft>
              <a:buNone/>
            </a:pPr>
            <a:r>
              <a:rPr b="0"/>
              <a:t>AWS first path: native nested KVM on supported nodes</a:t>
            </a:r>
          </a:p>
          <a:p>
            <a:pPr>
              <a:spcAft>
                <a:spcPts val="12"/>
              </a:spcAft>
              <a:buNone/>
            </a:pPr>
            <a:r>
              <a:rPr b="0"/>
              <a:t>PVM is an experimental fallback when VT is not exposed</a:t>
            </a:r>
          </a:p>
          <a:p>
            <a:pPr>
              <a:spcAft>
                <a:spcPts val="12"/>
              </a:spcAft>
              <a:buNone/>
            </a:pPr>
            <a:r>
              <a:rPr b="0"/>
              <a:t>Separate AMI, node pool, RuntimeClass, and observability</a:t>
            </a:r>
          </a:p>
        </p:txBody>
      </p:sp>
      <p:pic>
        <p:nvPicPr>
          <p:cNvPr id="11" name="图形 10"/>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Tree>
    <p:extLst>
      <p:ext uri="{BB962C8B-B14F-4D97-AF65-F5344CB8AC3E}">
        <p14:creationId xmlns:p14="http://schemas.microsoft.com/office/powerpoint/2010/main" val="1317687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KubeCon header background">
            <a:extLst>
              <a:ext uri="{FF2B5EF4-FFF2-40B4-BE49-F238E27FC236}">
                <a16:creationId xmlns:a16="http://schemas.microsoft.com/office/drawing/2014/main" id="{B2710259-80B1-0CAF-1308-6ACC5A07C9C3}"/>
              </a:ext>
            </a:extLst>
          </p:cNvPr>
          <p:cNvSpPr>
            <a:spLocks noGrp="1"/>
          </p:cNvSpPr>
          <p:nvPr/>
        </p:nvSpPr>
        <p:spPr>
          <a:xfrm>
            <a:off x="7144" y="0"/>
            <a:ext cx="9136856" cy="1047941"/>
          </a:xfrm>
          <a:prstGeom prst="rect">
            <a:avLst/>
          </a:prstGeom>
          <a:solidFill>
            <a:srgbClr val="3939D9"/>
          </a:solidFill>
          <a:ln w="0">
            <a:noFill/>
            <a:prstDash val="solid"/>
          </a:ln>
        </p:spPr>
        <p:txBody>
          <a:bodyPr/>
          <a:lstStyle/>
          <a:p>
            <a:endParaRPr lang="zh-CN" altLang="en-US"/>
          </a:p>
        </p:txBody>
      </p:sp>
      <p:sp>
        <p:nvSpPr>
          <p:cNvPr id="3" name="Text Placeholder 2">
            <a:extLst>
              <a:ext uri="{FF2B5EF4-FFF2-40B4-BE49-F238E27FC236}">
                <a16:creationId xmlns:a16="http://schemas.microsoft.com/office/drawing/2014/main" id="{5DB2A2A4-192E-3B9D-4591-457BCD33F865}"/>
              </a:ext>
            </a:extLst>
          </p:cNvPr>
          <p:cNvSpPr>
            <a:spLocks noGrp="1"/>
          </p:cNvSpPr>
          <p:nvPr>
            <p:ph type="body" idx="1"/>
          </p:nvPr>
        </p:nvSpPr>
        <p:spPr/>
        <p:txBody>
          <a:bodyPr/>
          <a:lstStyle/>
          <a:p>
            <a:pPr>
              <a:spcAft>
                <a:spcPts val="18"/>
              </a:spcAft>
              <a:buNone/>
            </a:pPr>
            <a:r>
              <a:rPr b="1">
                <a:solidFill>
                  <a:srgbClr val="3939D8"/>
                </a:solidFill>
              </a:rPr>
              <a:t>NYDUS</a:t>
            </a:r>
          </a:p>
          <a:p>
            <a:pPr>
              <a:spcAft>
                <a:spcPts val="12"/>
              </a:spcAft>
              <a:buNone/>
            </a:pPr>
            <a:r>
              <a:rPr b="0"/>
              <a:t>OCI-compatible image artifacts</a:t>
            </a:r>
          </a:p>
          <a:p>
            <a:pPr>
              <a:spcAft>
                <a:spcPts val="12"/>
              </a:spcAft>
              <a:buNone/>
            </a:pPr>
            <a:r>
              <a:rPr b="0"/>
              <a:t>Lazy, on-demand filesystem reads</a:t>
            </a:r>
          </a:p>
          <a:p>
            <a:pPr>
              <a:spcAft>
                <a:spcPts val="12"/>
              </a:spcAft>
              <a:buNone/>
            </a:pPr>
            <a:r>
              <a:rPr b="0"/>
              <a:t>containerd snapshotter integration</a:t>
            </a:r>
          </a:p>
        </p:txBody>
      </p:sp>
      <p:sp>
        <p:nvSpPr>
          <p:cNvPr id="4" name="Text Placeholder 3">
            <a:extLst>
              <a:ext uri="{FF2B5EF4-FFF2-40B4-BE49-F238E27FC236}">
                <a16:creationId xmlns:a16="http://schemas.microsoft.com/office/drawing/2014/main" id="{3864F587-4A71-B1B9-FAD1-6361775AB840}"/>
              </a:ext>
            </a:extLst>
          </p:cNvPr>
          <p:cNvSpPr>
            <a:spLocks noGrp="1"/>
          </p:cNvSpPr>
          <p:nvPr>
            <p:ph type="body" idx="2"/>
          </p:nvPr>
        </p:nvSpPr>
        <p:spPr/>
        <p:txBody>
          <a:bodyPr/>
          <a:lstStyle/>
          <a:p>
            <a:pPr>
              <a:spcAft>
                <a:spcPts val="18"/>
              </a:spcAft>
              <a:buNone/>
            </a:pPr>
            <a:r>
              <a:rPr b="1">
                <a:solidFill>
                  <a:srgbClr val="3939D8"/>
                </a:solidFill>
              </a:rPr>
              <a:t>DRAGONFLY</a:t>
            </a:r>
          </a:p>
          <a:p>
            <a:pPr>
              <a:spcAft>
                <a:spcPts val="12"/>
              </a:spcAft>
              <a:buNone/>
            </a:pPr>
            <a:r>
              <a:rPr b="0"/>
              <a:t>Distribution, cache, and peer-to-peer delivery</a:t>
            </a:r>
          </a:p>
          <a:p>
            <a:pPr>
              <a:spcAft>
                <a:spcPts val="12"/>
              </a:spcAft>
              <a:buNone/>
            </a:pPr>
            <a:r>
              <a:rPr b="0"/>
              <a:t>Reduce repeated registry traffic at scale</a:t>
            </a:r>
          </a:p>
          <a:p>
            <a:pPr>
              <a:spcAft>
                <a:spcPts val="12"/>
              </a:spcAft>
              <a:buNone/>
            </a:pPr>
            <a:r>
              <a:rPr b="0"/>
              <a:t>Add after the minimal execution path is reproducible</a:t>
            </a:r>
          </a:p>
        </p:txBody>
      </p:sp>
      <p:sp>
        <p:nvSpPr>
          <p:cNvPr id="5" name="KubeCon header background">
            <a:extLst>
              <a:ext uri="{FF2B5EF4-FFF2-40B4-BE49-F238E27FC236}">
                <a16:creationId xmlns:a16="http://schemas.microsoft.com/office/drawing/2014/main" id="{51FB7CFB-050A-4963-8914-23E44F5649A8}"/>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11" name="图形 10"/>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26315FC3-40BE-407D-92F3-C4C06CB3691C}"/>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Nydus and Dragonfly move less data, sooner</a:t>
            </a:r>
          </a:p>
        </p:txBody>
      </p:sp>
    </p:spTree>
    <p:extLst>
      <p:ext uri="{BB962C8B-B14F-4D97-AF65-F5344CB8AC3E}">
        <p14:creationId xmlns:p14="http://schemas.microsoft.com/office/powerpoint/2010/main" val="1317687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fecycle-arrow-1">
            <a:extLst>
              <a:ext uri="{FF2B5EF4-FFF2-40B4-BE49-F238E27FC236}">
                <a16:creationId xmlns:a16="http://schemas.microsoft.com/office/drawing/2014/main" id="{EC736726-3FB9-4702-BFCA-2E4F0B003615}"/>
              </a:ext>
            </a:extLst>
          </p:cNvPr>
          <p:cNvSpPr>
            <a:spLocks noGrp="1"/>
          </p:cNvSpPr>
          <p:nvPr/>
        </p:nvSpPr>
        <p:spPr>
          <a:xfrm>
            <a:off x="1419225" y="2085975"/>
            <a:ext cx="371475" cy="209550"/>
          </a:xfrm>
          <a:prstGeom prst="rightArrow">
            <a:avLst/>
          </a:prstGeom>
          <a:solidFill>
            <a:srgbClr val="FFA4B9"/>
          </a:solidFill>
          <a:ln w="0">
            <a:solidFill>
              <a:srgbClr val="FFA4B9"/>
            </a:solidFill>
            <a:prstDash val="solid"/>
          </a:ln>
        </p:spPr>
        <p:txBody>
          <a:bodyPr/>
          <a:lstStyle/>
          <a:p>
            <a:endParaRPr/>
          </a:p>
        </p:txBody>
      </p:sp>
      <p:sp>
        <p:nvSpPr>
          <p:cNvPr id="4" name="lifecycle-arrow-2">
            <a:extLst>
              <a:ext uri="{FF2B5EF4-FFF2-40B4-BE49-F238E27FC236}">
                <a16:creationId xmlns:a16="http://schemas.microsoft.com/office/drawing/2014/main" id="{F2186D02-30B0-487F-B7D0-E6CAF977BDED}"/>
              </a:ext>
            </a:extLst>
          </p:cNvPr>
          <p:cNvSpPr>
            <a:spLocks noGrp="1"/>
          </p:cNvSpPr>
          <p:nvPr/>
        </p:nvSpPr>
        <p:spPr>
          <a:xfrm>
            <a:off x="2838450" y="2085975"/>
            <a:ext cx="371475" cy="209550"/>
          </a:xfrm>
          <a:prstGeom prst="rightArrow">
            <a:avLst/>
          </a:prstGeom>
          <a:solidFill>
            <a:srgbClr val="FFA4B9"/>
          </a:solidFill>
          <a:ln w="0">
            <a:solidFill>
              <a:srgbClr val="FFA4B9"/>
            </a:solidFill>
            <a:prstDash val="solid"/>
          </a:ln>
        </p:spPr>
        <p:txBody>
          <a:bodyPr/>
          <a:lstStyle/>
          <a:p>
            <a:endParaRPr/>
          </a:p>
        </p:txBody>
      </p:sp>
      <p:sp>
        <p:nvSpPr>
          <p:cNvPr id="5" name="lifecycle-arrow-3">
            <a:extLst>
              <a:ext uri="{FF2B5EF4-FFF2-40B4-BE49-F238E27FC236}">
                <a16:creationId xmlns:a16="http://schemas.microsoft.com/office/drawing/2014/main" id="{FDD2219D-16B3-4905-8555-96DD935F623D}"/>
              </a:ext>
            </a:extLst>
          </p:cNvPr>
          <p:cNvSpPr>
            <a:spLocks noGrp="1"/>
          </p:cNvSpPr>
          <p:nvPr/>
        </p:nvSpPr>
        <p:spPr>
          <a:xfrm>
            <a:off x="4257675" y="2085975"/>
            <a:ext cx="371475" cy="209550"/>
          </a:xfrm>
          <a:prstGeom prst="rightArrow">
            <a:avLst/>
          </a:prstGeom>
          <a:solidFill>
            <a:srgbClr val="FFA4B9"/>
          </a:solidFill>
          <a:ln w="0">
            <a:solidFill>
              <a:srgbClr val="FFA4B9"/>
            </a:solidFill>
            <a:prstDash val="solid"/>
          </a:ln>
        </p:spPr>
        <p:txBody>
          <a:bodyPr/>
          <a:lstStyle/>
          <a:p>
            <a:endParaRPr/>
          </a:p>
        </p:txBody>
      </p:sp>
      <p:sp>
        <p:nvSpPr>
          <p:cNvPr id="6" name="lifecycle-arrow-4">
            <a:extLst>
              <a:ext uri="{FF2B5EF4-FFF2-40B4-BE49-F238E27FC236}">
                <a16:creationId xmlns:a16="http://schemas.microsoft.com/office/drawing/2014/main" id="{8F39A945-9FF6-481C-A2F3-6892AD9E65B2}"/>
              </a:ext>
            </a:extLst>
          </p:cNvPr>
          <p:cNvSpPr>
            <a:spLocks noGrp="1"/>
          </p:cNvSpPr>
          <p:nvPr/>
        </p:nvSpPr>
        <p:spPr>
          <a:xfrm>
            <a:off x="5676900" y="2085975"/>
            <a:ext cx="371475" cy="209550"/>
          </a:xfrm>
          <a:prstGeom prst="rightArrow">
            <a:avLst/>
          </a:prstGeom>
          <a:solidFill>
            <a:srgbClr val="FFA4B9"/>
          </a:solidFill>
          <a:ln w="0">
            <a:solidFill>
              <a:srgbClr val="FFA4B9"/>
            </a:solidFill>
            <a:prstDash val="solid"/>
          </a:ln>
        </p:spPr>
        <p:txBody>
          <a:bodyPr/>
          <a:lstStyle/>
          <a:p>
            <a:endParaRPr/>
          </a:p>
        </p:txBody>
      </p:sp>
      <p:sp>
        <p:nvSpPr>
          <p:cNvPr id="7" name="lifecycle-arrow-5">
            <a:extLst>
              <a:ext uri="{FF2B5EF4-FFF2-40B4-BE49-F238E27FC236}">
                <a16:creationId xmlns:a16="http://schemas.microsoft.com/office/drawing/2014/main" id="{7BA50A88-86F3-4F37-97A3-9F771C7DD58F}"/>
              </a:ext>
            </a:extLst>
          </p:cNvPr>
          <p:cNvSpPr>
            <a:spLocks noGrp="1"/>
          </p:cNvSpPr>
          <p:nvPr/>
        </p:nvSpPr>
        <p:spPr>
          <a:xfrm>
            <a:off x="7096125" y="2085975"/>
            <a:ext cx="371475" cy="209550"/>
          </a:xfrm>
          <a:prstGeom prst="rightArrow">
            <a:avLst/>
          </a:prstGeom>
          <a:solidFill>
            <a:srgbClr val="FFA4B9"/>
          </a:solidFill>
          <a:ln w="0">
            <a:solidFill>
              <a:srgbClr val="FFA4B9"/>
            </a:solidFill>
            <a:prstDash val="solid"/>
          </a:ln>
        </p:spPr>
        <p:txBody>
          <a:bodyPr/>
          <a:lstStyle/>
          <a:p>
            <a:endParaRPr/>
          </a:p>
        </p:txBody>
      </p:sp>
      <p:sp>
        <p:nvSpPr>
          <p:cNvPr id="8" name="lifecycle-step-1">
            <a:extLst>
              <a:ext uri="{FF2B5EF4-FFF2-40B4-BE49-F238E27FC236}">
                <a16:creationId xmlns:a16="http://schemas.microsoft.com/office/drawing/2014/main" id="{5AEAE2C8-C7A5-4DFF-A8FE-B8700312C2B9}"/>
              </a:ext>
            </a:extLst>
          </p:cNvPr>
          <p:cNvSpPr>
            <a:spLocks noGrp="1"/>
          </p:cNvSpPr>
          <p:nvPr/>
        </p:nvSpPr>
        <p:spPr>
          <a:xfrm>
            <a:off x="419100" y="1695450"/>
            <a:ext cx="1000125" cy="990600"/>
          </a:xfrm>
          <a:prstGeom prst="roundRect">
            <a:avLst>
              <a:gd name="adj" fmla="val 7692"/>
            </a:avLst>
          </a:prstGeom>
          <a:solidFill>
            <a:srgbClr val="E7F3FF"/>
          </a:solidFill>
          <a:ln w="9525">
            <a:solidFill>
              <a:srgbClr val="B0DD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1</a:t>
            </a:r>
          </a:p>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Plan</a:t>
            </a:r>
          </a:p>
        </p:txBody>
      </p:sp>
      <p:sp>
        <p:nvSpPr>
          <p:cNvPr id="9" name="lifecycle-step-2">
            <a:extLst>
              <a:ext uri="{FF2B5EF4-FFF2-40B4-BE49-F238E27FC236}">
                <a16:creationId xmlns:a16="http://schemas.microsoft.com/office/drawing/2014/main" id="{0CF13BBB-2642-4ADD-AF17-4A846322060C}"/>
              </a:ext>
            </a:extLst>
          </p:cNvPr>
          <p:cNvSpPr>
            <a:spLocks noGrp="1"/>
          </p:cNvSpPr>
          <p:nvPr/>
        </p:nvSpPr>
        <p:spPr>
          <a:xfrm>
            <a:off x="1838325" y="1695450"/>
            <a:ext cx="1000125" cy="990600"/>
          </a:xfrm>
          <a:prstGeom prst="roundRect">
            <a:avLst>
              <a:gd name="adj" fmla="val 7692"/>
            </a:avLst>
          </a:prstGeom>
          <a:solidFill>
            <a:srgbClr val="E7F3FF"/>
          </a:solidFill>
          <a:ln w="9525">
            <a:solidFill>
              <a:srgbClr val="B0DD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2</a:t>
            </a:r>
          </a:p>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Start node</a:t>
            </a:r>
          </a:p>
        </p:txBody>
      </p:sp>
      <p:sp>
        <p:nvSpPr>
          <p:cNvPr id="10" name="lifecycle-step-3">
            <a:extLst>
              <a:ext uri="{FF2B5EF4-FFF2-40B4-BE49-F238E27FC236}">
                <a16:creationId xmlns:a16="http://schemas.microsoft.com/office/drawing/2014/main" id="{7CE177E2-71A8-4146-8771-9D7079A4EA06}"/>
              </a:ext>
            </a:extLst>
          </p:cNvPr>
          <p:cNvSpPr>
            <a:spLocks noGrp="1"/>
          </p:cNvSpPr>
          <p:nvPr/>
        </p:nvSpPr>
        <p:spPr>
          <a:xfrm>
            <a:off x="3257550" y="1695450"/>
            <a:ext cx="1000125" cy="990600"/>
          </a:xfrm>
          <a:prstGeom prst="roundRect">
            <a:avLst>
              <a:gd name="adj" fmla="val 7692"/>
            </a:avLst>
          </a:prstGeom>
          <a:solidFill>
            <a:srgbClr val="E7F3FF"/>
          </a:solidFill>
          <a:ln w="9525">
            <a:solidFill>
              <a:srgbClr val="B0DD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3</a:t>
            </a:r>
          </a:p>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Bootstrap</a:t>
            </a:r>
          </a:p>
        </p:txBody>
      </p:sp>
      <p:sp>
        <p:nvSpPr>
          <p:cNvPr id="11" name="lifecycle-step-4">
            <a:extLst>
              <a:ext uri="{FF2B5EF4-FFF2-40B4-BE49-F238E27FC236}">
                <a16:creationId xmlns:a16="http://schemas.microsoft.com/office/drawing/2014/main" id="{D1F9E5F3-20BA-462E-B9D4-C30C941A47A1}"/>
              </a:ext>
            </a:extLst>
          </p:cNvPr>
          <p:cNvSpPr>
            <a:spLocks noGrp="1"/>
          </p:cNvSpPr>
          <p:nvPr/>
        </p:nvSpPr>
        <p:spPr>
          <a:xfrm>
            <a:off x="4676775" y="1695450"/>
            <a:ext cx="1000125" cy="990600"/>
          </a:xfrm>
          <a:prstGeom prst="roundRect">
            <a:avLst>
              <a:gd name="adj" fmla="val 7692"/>
            </a:avLst>
          </a:prstGeom>
          <a:solidFill>
            <a:srgbClr val="E7F3FF"/>
          </a:solidFill>
          <a:ln w="9525">
            <a:solidFill>
              <a:srgbClr val="B0DD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4</a:t>
            </a:r>
          </a:p>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Run + wait</a:t>
            </a:r>
          </a:p>
        </p:txBody>
      </p:sp>
      <p:sp>
        <p:nvSpPr>
          <p:cNvPr id="12" name="lifecycle-step-5">
            <a:extLst>
              <a:ext uri="{FF2B5EF4-FFF2-40B4-BE49-F238E27FC236}">
                <a16:creationId xmlns:a16="http://schemas.microsoft.com/office/drawing/2014/main" id="{44339561-4C06-41DB-8C05-2D57A7C96C73}"/>
              </a:ext>
            </a:extLst>
          </p:cNvPr>
          <p:cNvSpPr>
            <a:spLocks noGrp="1"/>
          </p:cNvSpPr>
          <p:nvPr/>
        </p:nvSpPr>
        <p:spPr>
          <a:xfrm>
            <a:off x="6096000" y="1695450"/>
            <a:ext cx="1000125" cy="990600"/>
          </a:xfrm>
          <a:prstGeom prst="roundRect">
            <a:avLst>
              <a:gd name="adj" fmla="val 7692"/>
            </a:avLst>
          </a:prstGeom>
          <a:solidFill>
            <a:srgbClr val="E7F3FF"/>
          </a:solidFill>
          <a:ln w="9525">
            <a:solidFill>
              <a:srgbClr val="B0DDFF"/>
            </a:solidFill>
            <a:prstDash val="solid"/>
          </a:ln>
        </p:spPr>
        <p:txBody>
          <a:bodyPr wrap="square" lIns="76200" tIns="57150" rIns="76200" bIns="57150" anchor="ctr">
            <a:normAutofit/>
          </a:bodyPr>
          <a:lstStyle/>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5</a:t>
            </a:r>
          </a:p>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Snapshot</a:t>
            </a:r>
          </a:p>
          <a:p>
            <a:pPr algn="ctr">
              <a:buNone/>
              <a:defRPr sz="1275" b="1">
                <a:solidFill>
                  <a:srgbClr val="00144C"/>
                </a:solidFill>
                <a:latin typeface="Clarity City"/>
                <a:ea typeface="Clarity City"/>
                <a:cs typeface="Clarity City"/>
              </a:defRPr>
            </a:pPr>
            <a:r>
              <a:rPr sz="1275" b="1">
                <a:solidFill>
                  <a:srgbClr val="00144C"/>
                </a:solidFill>
                <a:latin typeface="Clarity City"/>
                <a:ea typeface="Clarity City"/>
                <a:cs typeface="Clarity City"/>
              </a:rPr>
              <a:t>evidence</a:t>
            </a:r>
          </a:p>
        </p:txBody>
      </p:sp>
      <p:sp>
        <p:nvSpPr>
          <p:cNvPr id="13" name="lifecycle-step-6">
            <a:extLst>
              <a:ext uri="{FF2B5EF4-FFF2-40B4-BE49-F238E27FC236}">
                <a16:creationId xmlns:a16="http://schemas.microsoft.com/office/drawing/2014/main" id="{638BD298-EBDA-4C80-B873-11830E6BA6CF}"/>
              </a:ext>
            </a:extLst>
          </p:cNvPr>
          <p:cNvSpPr>
            <a:spLocks noGrp="1"/>
          </p:cNvSpPr>
          <p:nvPr/>
        </p:nvSpPr>
        <p:spPr>
          <a:xfrm>
            <a:off x="7515225" y="1695450"/>
            <a:ext cx="1000125" cy="990600"/>
          </a:xfrm>
          <a:prstGeom prst="roundRect">
            <a:avLst>
              <a:gd name="adj" fmla="val 7692"/>
            </a:avLst>
          </a:prstGeom>
          <a:solidFill>
            <a:srgbClr val="3939D8"/>
          </a:solidFill>
          <a:ln w="9525">
            <a:solidFill>
              <a:srgbClr val="3939D8"/>
            </a:solidFill>
            <a:prstDash val="solid"/>
          </a:ln>
        </p:spPr>
        <p:txBody>
          <a:bodyPr wrap="square" lIns="76200" tIns="57150" rIns="76200" bIns="57150" anchor="ctr">
            <a:normAutofit/>
          </a:bodyPr>
          <a:lstStyle/>
          <a:p>
            <a:pPr algn="ctr">
              <a:buNone/>
              <a:defRPr sz="1275" b="1">
                <a:solidFill>
                  <a:srgbClr val="FFFFFF"/>
                </a:solidFill>
                <a:latin typeface="Clarity City"/>
                <a:ea typeface="Clarity City"/>
                <a:cs typeface="Clarity City"/>
              </a:defRPr>
            </a:pPr>
            <a:r>
              <a:rPr sz="1275" b="1">
                <a:solidFill>
                  <a:srgbClr val="FFFFFF"/>
                </a:solidFill>
                <a:latin typeface="Clarity City"/>
                <a:ea typeface="Clarity City"/>
                <a:cs typeface="Clarity City"/>
              </a:rPr>
              <a:t>6</a:t>
            </a:r>
          </a:p>
          <a:p>
            <a:pPr algn="ctr">
              <a:buNone/>
              <a:defRPr sz="1275" b="1">
                <a:solidFill>
                  <a:srgbClr val="FFFFFF"/>
                </a:solidFill>
                <a:latin typeface="Clarity City"/>
                <a:ea typeface="Clarity City"/>
                <a:cs typeface="Clarity City"/>
              </a:defRPr>
            </a:pPr>
            <a:r>
              <a:rPr sz="1275" b="1">
                <a:solidFill>
                  <a:srgbClr val="FFFFFF"/>
                </a:solidFill>
                <a:latin typeface="Clarity City"/>
                <a:ea typeface="Clarity City"/>
                <a:cs typeface="Clarity City"/>
              </a:rPr>
              <a:t>Cleanup</a:t>
            </a:r>
          </a:p>
          <a:p>
            <a:pPr algn="ctr">
              <a:buNone/>
              <a:defRPr sz="1275" b="1">
                <a:solidFill>
                  <a:srgbClr val="FFFFFF"/>
                </a:solidFill>
                <a:latin typeface="Clarity City"/>
                <a:ea typeface="Clarity City"/>
                <a:cs typeface="Clarity City"/>
              </a:defRPr>
            </a:pPr>
            <a:r>
              <a:rPr sz="1275" b="1">
                <a:solidFill>
                  <a:srgbClr val="FFFFFF"/>
                </a:solidFill>
                <a:latin typeface="Clarity City"/>
                <a:ea typeface="Clarity City"/>
                <a:cs typeface="Clarity City"/>
              </a:rPr>
              <a:t>+ stop</a:t>
            </a:r>
          </a:p>
        </p:txBody>
      </p:sp>
      <p:sp>
        <p:nvSpPr>
          <p:cNvPr id="14" name="failure-convergence">
            <a:extLst>
              <a:ext uri="{FF2B5EF4-FFF2-40B4-BE49-F238E27FC236}">
                <a16:creationId xmlns:a16="http://schemas.microsoft.com/office/drawing/2014/main" id="{E6C5BC6C-1396-4805-BFB0-A2AB0C942EDA}"/>
              </a:ext>
            </a:extLst>
          </p:cNvPr>
          <p:cNvSpPr>
            <a:spLocks noGrp="1"/>
          </p:cNvSpPr>
          <p:nvPr/>
        </p:nvSpPr>
        <p:spPr>
          <a:xfrm>
            <a:off x="990600" y="3067050"/>
            <a:ext cx="7162800" cy="552450"/>
          </a:xfrm>
          <a:prstGeom prst="roundRect">
            <a:avLst>
              <a:gd name="adj" fmla="val 13793"/>
            </a:avLst>
          </a:prstGeom>
          <a:solidFill>
            <a:srgbClr val="FFE3EA"/>
          </a:solidFill>
          <a:ln w="9525">
            <a:solidFill>
              <a:srgbClr val="FFA4B9"/>
            </a:solidFill>
            <a:prstDash val="solid"/>
          </a:ln>
        </p:spPr>
        <p:txBody>
          <a:bodyPr wrap="square" lIns="76200" tIns="57150" rIns="76200" bIns="57150" anchor="ctr">
            <a:normAutofit/>
          </a:bodyPr>
          <a:lstStyle/>
          <a:p>
            <a:pPr algn="ctr">
              <a:buNone/>
              <a:defRPr sz="1350" b="1">
                <a:solidFill>
                  <a:srgbClr val="E51C3A"/>
                </a:solidFill>
                <a:latin typeface="Clarity City"/>
                <a:ea typeface="Clarity City"/>
                <a:cs typeface="Clarity City"/>
              </a:defRPr>
            </a:pPr>
            <a:r>
              <a:rPr sz="1350" b="1">
                <a:solidFill>
                  <a:srgbClr val="E51C3A"/>
                </a:solidFill>
                <a:latin typeface="Clarity City"/>
                <a:ea typeface="Clarity City"/>
                <a:cs typeface="Clarity City"/>
              </a:rPr>
              <a:t>Success and failure converge on the same cleanup path</a:t>
            </a:r>
          </a:p>
        </p:txBody>
      </p:sp>
      <p:sp>
        <p:nvSpPr>
          <p:cNvPr id="15" name="snapshot-caveat">
            <a:extLst>
              <a:ext uri="{FF2B5EF4-FFF2-40B4-BE49-F238E27FC236}">
                <a16:creationId xmlns:a16="http://schemas.microsoft.com/office/drawing/2014/main" id="{45CE4BAB-80B2-406D-863B-A1CFB575C4AE}"/>
              </a:ext>
            </a:extLst>
          </p:cNvPr>
          <p:cNvSpPr>
            <a:spLocks noGrp="1"/>
          </p:cNvSpPr>
          <p:nvPr/>
        </p:nvSpPr>
        <p:spPr>
          <a:xfrm>
            <a:off x="1743075" y="3781425"/>
            <a:ext cx="5657850" cy="323850"/>
          </a:xfrm>
          <a:prstGeom prst="rect">
            <a:avLst/>
          </a:prstGeom>
          <a:noFill/>
          <a:ln w="0">
            <a:noFill/>
            <a:prstDash val="solid"/>
          </a:ln>
        </p:spPr>
        <p:txBody>
          <a:bodyPr wrap="square" lIns="0" tIns="0" rIns="0" bIns="0" anchor="ctr">
            <a:normAutofit/>
          </a:bodyPr>
          <a:lstStyle/>
          <a:p>
            <a:pPr algn="ctr">
              <a:buNone/>
              <a:defRPr sz="1125" b="0">
                <a:solidFill>
                  <a:srgbClr val="5A6275"/>
                </a:solidFill>
                <a:latin typeface="Clarity City"/>
                <a:ea typeface="Clarity City"/>
                <a:cs typeface="Clarity City"/>
              </a:defRPr>
            </a:pPr>
            <a:r>
              <a:rPr sz="1125" b="0">
                <a:solidFill>
                  <a:srgbClr val="5A6275"/>
                </a:solidFill>
                <a:latin typeface="Clarity City"/>
                <a:ea typeface="Clarity City"/>
                <a:cs typeface="Clarity City"/>
              </a:rPr>
              <a:t>The current snapshot is diagnostic resource evidence—not yet a VM checkpoint.</a:t>
            </a:r>
          </a:p>
        </p:txBody>
      </p:sp>
      <p:sp>
        <p:nvSpPr>
          <p:cNvPr id="16" name="KubeCon header background">
            <a:extLst>
              <a:ext uri="{FF2B5EF4-FFF2-40B4-BE49-F238E27FC236}">
                <a16:creationId xmlns:a16="http://schemas.microsoft.com/office/drawing/2014/main" id="{3A1FBF08-7E09-4964-8150-97125414712A}"/>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33" name="图形 32"/>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80002F4E-BDC9-4292-00F6-25D8D1D6E346}"/>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Disposability requires guaranteed cleanup</a:t>
            </a:r>
          </a:p>
        </p:txBody>
      </p:sp>
    </p:spTree>
    <p:extLst>
      <p:ext uri="{BB962C8B-B14F-4D97-AF65-F5344CB8AC3E}">
        <p14:creationId xmlns:p14="http://schemas.microsoft.com/office/powerpoint/2010/main" val="1581687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B2A2A4-192E-3B9D-4591-457BCD33F865}"/>
              </a:ext>
            </a:extLst>
          </p:cNvPr>
          <p:cNvSpPr>
            <a:spLocks noGrp="1"/>
          </p:cNvSpPr>
          <p:nvPr>
            <p:ph type="body" idx="1"/>
          </p:nvPr>
        </p:nvSpPr>
        <p:spPr/>
        <p:txBody>
          <a:bodyPr/>
          <a:lstStyle/>
          <a:p>
            <a:pPr>
              <a:spcAft>
                <a:spcPts val="18"/>
              </a:spcAft>
              <a:buNone/>
            </a:pPr>
            <a:r>
              <a:rPr b="1">
                <a:solidFill>
                  <a:srgbClr val="3939D8"/>
                </a:solidFill>
              </a:rPr>
              <a:t>DURABLE INFRASTRUCTURE</a:t>
            </a:r>
          </a:p>
          <a:p>
            <a:pPr>
              <a:spcAft>
                <a:spcPts val="14"/>
              </a:spcAft>
              <a:buNone/>
            </a:pPr>
            <a:r>
              <a:rPr b="1">
                <a:solidFill>
                  <a:srgbClr val="3939D8"/>
                </a:solidFill>
              </a:rPr>
              <a:t>OpenTofu · </a:t>
            </a:r>
            <a:r>
              <a:t>VPC, EKS, IAM, system nodes, and sandbox nodes.</a:t>
            </a:r>
          </a:p>
          <a:p>
            <a:pPr>
              <a:spcAft>
                <a:spcPts val="14"/>
              </a:spcAft>
              <a:buNone/>
            </a:pPr>
            <a:r>
              <a:rPr b="1">
                <a:solidFill>
                  <a:srgbClr val="3939D8"/>
                </a:solidFill>
              </a:rPr>
              <a:t>State · </a:t>
            </a:r>
            <a:r>
              <a:t>Remote and locked before shared use.</a:t>
            </a:r>
          </a:p>
          <a:p>
            <a:pPr>
              <a:spcAft>
                <a:spcPts val="14"/>
              </a:spcAft>
              <a:buNone/>
            </a:pPr>
            <a:r>
              <a:rPr b="1">
                <a:solidFill>
                  <a:srgbClr val="3939D8"/>
                </a:solidFill>
              </a:rPr>
              <a:t>Change control · </a:t>
            </a:r>
            <a:r>
              <a:t>Explicit plan, apply, and destroy.</a:t>
            </a:r>
          </a:p>
        </p:txBody>
      </p:sp>
      <p:sp>
        <p:nvSpPr>
          <p:cNvPr id="4" name="Text Placeholder 3">
            <a:extLst>
              <a:ext uri="{FF2B5EF4-FFF2-40B4-BE49-F238E27FC236}">
                <a16:creationId xmlns:a16="http://schemas.microsoft.com/office/drawing/2014/main" id="{3864F587-4A71-B1B9-FAD1-6361775AB840}"/>
              </a:ext>
            </a:extLst>
          </p:cNvPr>
          <p:cNvSpPr>
            <a:spLocks noGrp="1"/>
          </p:cNvSpPr>
          <p:nvPr>
            <p:ph type="body" idx="2"/>
          </p:nvPr>
        </p:nvSpPr>
        <p:spPr/>
        <p:txBody>
          <a:bodyPr/>
          <a:lstStyle/>
          <a:p>
            <a:pPr>
              <a:spcAft>
                <a:spcPts val="18"/>
              </a:spcAft>
              <a:buNone/>
            </a:pPr>
            <a:r>
              <a:rPr b="1">
                <a:solidFill>
                  <a:srgbClr val="3939D8"/>
                </a:solidFill>
              </a:rPr>
              <a:t>DISPOSABLE TEST CYCLE</a:t>
            </a:r>
          </a:p>
          <a:p>
            <a:pPr>
              <a:spcAft>
                <a:spcPts val="14"/>
              </a:spcAft>
              <a:buNone/>
            </a:pPr>
            <a:r>
              <a:rPr b="1">
                <a:solidFill>
                  <a:srgbClr val="3939D8"/>
                </a:solidFill>
              </a:rPr>
              <a:t>Python CLI · </a:t>
            </a:r>
            <a:r>
              <a:t>Start, bootstrap, run, observe, delete, and stop.</a:t>
            </a:r>
          </a:p>
          <a:p>
            <a:pPr>
              <a:spcAft>
                <a:spcPts val="14"/>
              </a:spcAft>
              <a:buNone/>
            </a:pPr>
            <a:r>
              <a:rPr b="1">
                <a:solidFill>
                  <a:srgbClr val="3939D8"/>
                </a:solidFill>
              </a:rPr>
              <a:t>Evidence · </a:t>
            </a:r>
            <a:r>
              <a:t>Command log and Kubernetes resource snapshot.</a:t>
            </a:r>
          </a:p>
          <a:p>
            <a:pPr>
              <a:spcAft>
                <a:spcPts val="14"/>
              </a:spcAft>
              <a:buNone/>
            </a:pPr>
            <a:r>
              <a:rPr b="1">
                <a:solidFill>
                  <a:srgbClr val="3939D8"/>
                </a:solidFill>
              </a:rPr>
              <a:t>Safety · </a:t>
            </a:r>
            <a:r>
              <a:t>Cleanup and node stop execute in a finally path.</a:t>
            </a:r>
          </a:p>
        </p:txBody>
      </p:sp>
      <p:sp>
        <p:nvSpPr>
          <p:cNvPr id="5" name="KubeCon header background">
            <a:extLst>
              <a:ext uri="{FF2B5EF4-FFF2-40B4-BE49-F238E27FC236}">
                <a16:creationId xmlns:a16="http://schemas.microsoft.com/office/drawing/2014/main" id="{745C9FA5-0C35-4DEC-AC78-84C5F756BFF7}"/>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11" name="图形 10"/>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26315FC3-40BE-407D-92F3-C4C06CB3691C}"/>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Xolis separates durable and disposable work</a:t>
            </a:r>
          </a:p>
        </p:txBody>
      </p:sp>
    </p:spTree>
    <p:extLst>
      <p:ext uri="{BB962C8B-B14F-4D97-AF65-F5344CB8AC3E}">
        <p14:creationId xmlns:p14="http://schemas.microsoft.com/office/powerpoint/2010/main" val="1317687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1EF65-77BD-3AF9-068F-F5767164EADB}"/>
              </a:ext>
            </a:extLst>
          </p:cNvPr>
          <p:cNvSpPr>
            <a:spLocks noGrp="1"/>
          </p:cNvSpPr>
          <p:nvPr>
            <p:ph type="title"/>
          </p:nvPr>
        </p:nvSpPr>
        <p:spPr/>
        <p:txBody>
          <a:bodyPr/>
          <a:lstStyle/>
          <a:p>
            <a:r>
              <a:t>Demo: one command runs the full cycle</a:t>
            </a:r>
          </a:p>
        </p:txBody>
      </p:sp>
      <p:sp>
        <p:nvSpPr>
          <p:cNvPr id="3" name="Text Placeholder 2">
            <a:extLst>
              <a:ext uri="{FF2B5EF4-FFF2-40B4-BE49-F238E27FC236}">
                <a16:creationId xmlns:a16="http://schemas.microsoft.com/office/drawing/2014/main" id="{B02553B4-806A-6C62-6308-DF9EB348572B}"/>
              </a:ext>
            </a:extLst>
          </p:cNvPr>
          <p:cNvSpPr>
            <a:spLocks noGrp="1"/>
          </p:cNvSpPr>
          <p:nvPr>
            <p:ph type="body" idx="1"/>
          </p:nvPr>
        </p:nvSpPr>
        <p:spPr/>
        <p:txBody>
          <a:bodyPr/>
          <a:lstStyle/>
          <a:p>
            <a:pPr>
              <a:spcAft>
                <a:spcPts val="5"/>
              </a:spcAft>
              <a:buNone/>
            </a:pPr>
            <a:r>
              <a:rPr b="1">
                <a:solidFill>
                  <a:srgbClr val="3939D8"/>
                </a:solidFill>
              </a:rPr>
              <a:t>1  Preview infrastructure</a:t>
            </a:r>
          </a:p>
          <a:p>
            <a:pPr>
              <a:spcAft>
                <a:spcPts val="18"/>
              </a:spcAft>
              <a:buNone/>
            </a:pPr>
            <a:r>
              <a:rPr b="0"/>
              <a:t>tofu plan</a:t>
            </a:r>
          </a:p>
          <a:p>
            <a:pPr>
              <a:spcAft>
                <a:spcPts val="5"/>
              </a:spcAft>
              <a:buNone/>
            </a:pPr>
            <a:r>
              <a:rPr b="1">
                <a:solidFill>
                  <a:srgbClr val="3939D8"/>
                </a:solidFill>
              </a:rPr>
              <a:t>2  Preview the disposable cycle without AWS</a:t>
            </a:r>
          </a:p>
          <a:p>
            <a:pPr>
              <a:spcAft>
                <a:spcPts val="18"/>
              </a:spcAft>
              <a:buNone/>
            </a:pPr>
            <a:r>
              <a:rPr b="0"/>
              <a:t>python3 tools/xolis_aws_lab.py --config tools/xolis_aws_lab.json --dry-run cycle run</a:t>
            </a:r>
          </a:p>
          <a:p>
            <a:pPr>
              <a:spcAft>
                <a:spcPts val="5"/>
              </a:spcAft>
              <a:buNone/>
            </a:pPr>
            <a:r>
              <a:rPr b="1">
                <a:solidFill>
                  <a:srgbClr val="3939D8"/>
                </a:solidFill>
              </a:rPr>
              <a:t>3  Run when the EKS inputs and manifests are ready</a:t>
            </a:r>
          </a:p>
          <a:p>
            <a:pPr>
              <a:spcAft>
                <a:spcPts val="18"/>
              </a:spcAft>
              <a:buNone/>
            </a:pPr>
            <a:r>
              <a:rPr b="0"/>
              <a:t>python3 tools/xolis_aws_lab.py --config tools/xolis_aws_lab.json cycle run</a:t>
            </a:r>
          </a:p>
          <a:p>
            <a:pPr>
              <a:spcAft>
                <a:spcPts val="0"/>
              </a:spcAft>
              <a:buNone/>
            </a:pPr>
            <a:r>
              <a:rPr b="1"/>
              <a:t>Watch: node scale-up → bootstrap → workload readiness → evidence → deletion → scale-to-zero</a:t>
            </a:r>
          </a:p>
        </p:txBody>
      </p:sp>
    </p:spTree>
    <p:extLst>
      <p:ext uri="{BB962C8B-B14F-4D97-AF65-F5344CB8AC3E}">
        <p14:creationId xmlns:p14="http://schemas.microsoft.com/office/powerpoint/2010/main" val="1659535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B2A2A4-192E-3B9D-4591-457BCD33F865}"/>
              </a:ext>
            </a:extLst>
          </p:cNvPr>
          <p:cNvSpPr>
            <a:spLocks noGrp="1"/>
          </p:cNvSpPr>
          <p:nvPr>
            <p:ph type="body" idx="1"/>
          </p:nvPr>
        </p:nvSpPr>
        <p:spPr/>
        <p:txBody>
          <a:bodyPr/>
          <a:lstStyle/>
          <a:p>
            <a:pPr>
              <a:spcAft>
                <a:spcPts val="18"/>
              </a:spcAft>
              <a:buNone/>
            </a:pPr>
            <a:r>
              <a:rPr b="1">
                <a:solidFill>
                  <a:srgbClr val="3939D8"/>
                </a:solidFill>
              </a:rPr>
              <a:t>IMPLEMENTED NOW</a:t>
            </a:r>
          </a:p>
          <a:p>
            <a:pPr>
              <a:spcAft>
                <a:spcPts val="12"/>
              </a:spcAft>
              <a:buNone/>
            </a:pPr>
            <a:r>
              <a:rPr b="0"/>
              <a:t>Architecture and AWS deployment design</a:t>
            </a:r>
          </a:p>
          <a:p>
            <a:pPr>
              <a:spcAft>
                <a:spcPts val="12"/>
              </a:spcAft>
              <a:buNone/>
            </a:pPr>
            <a:r>
              <a:rPr b="0"/>
              <a:t>OpenTofu + Python lab boundary</a:t>
            </a:r>
          </a:p>
          <a:p>
            <a:pPr>
              <a:spcAft>
                <a:spcPts val="12"/>
              </a:spcAft>
              <a:buNone/>
            </a:pPr>
            <a:r>
              <a:rPr b="0"/>
              <a:t>Dry-run without deployment inputs</a:t>
            </a:r>
          </a:p>
          <a:p>
            <a:pPr>
              <a:spcAft>
                <a:spcPts val="12"/>
              </a:spcAft>
              <a:buNone/>
            </a:pPr>
            <a:r>
              <a:rPr b="0"/>
              <a:t>Offline syntax and behavior tests</a:t>
            </a:r>
          </a:p>
        </p:txBody>
      </p:sp>
      <p:sp>
        <p:nvSpPr>
          <p:cNvPr id="4" name="Text Placeholder 3">
            <a:extLst>
              <a:ext uri="{FF2B5EF4-FFF2-40B4-BE49-F238E27FC236}">
                <a16:creationId xmlns:a16="http://schemas.microsoft.com/office/drawing/2014/main" id="{3864F587-4A71-B1B9-FAD1-6361775AB840}"/>
              </a:ext>
            </a:extLst>
          </p:cNvPr>
          <p:cNvSpPr>
            <a:spLocks noGrp="1"/>
          </p:cNvSpPr>
          <p:nvPr>
            <p:ph type="body" idx="2"/>
          </p:nvPr>
        </p:nvSpPr>
        <p:spPr/>
        <p:txBody>
          <a:bodyPr/>
          <a:lstStyle/>
          <a:p>
            <a:pPr>
              <a:spcAft>
                <a:spcPts val="18"/>
              </a:spcAft>
              <a:buNone/>
            </a:pPr>
            <a:r>
              <a:rPr b="1">
                <a:solidFill>
                  <a:srgbClr val="3939D8"/>
                </a:solidFill>
              </a:rPr>
              <a:t>EXPLICITLY NEXT</a:t>
            </a:r>
          </a:p>
          <a:p>
            <a:pPr>
              <a:spcAft>
                <a:spcPts val="12"/>
              </a:spcAft>
              <a:buNone/>
            </a:pPr>
            <a:r>
              <a:rPr b="0"/>
              <a:t>EKS modules and custom AMI build</a:t>
            </a:r>
          </a:p>
          <a:p>
            <a:pPr>
              <a:spcAft>
                <a:spcPts val="12"/>
              </a:spcAft>
              <a:buNone/>
            </a:pPr>
            <a:r>
              <a:rPr b="0"/>
              <a:t>Version-pinned runtime manifests</a:t>
            </a:r>
          </a:p>
          <a:p>
            <a:pPr>
              <a:spcAft>
                <a:spcPts val="12"/>
              </a:spcAft>
              <a:buNone/>
            </a:pPr>
            <a:r>
              <a:rPr b="0"/>
              <a:t>Real sandbox checkpoint capability</a:t>
            </a:r>
          </a:p>
          <a:p>
            <a:pPr>
              <a:spcAft>
                <a:spcPts val="12"/>
              </a:spcAft>
              <a:buNone/>
            </a:pPr>
            <a:r>
              <a:rPr b="0"/>
              <a:t>Startup, density, and cost measurements</a:t>
            </a:r>
          </a:p>
        </p:txBody>
      </p:sp>
      <p:sp>
        <p:nvSpPr>
          <p:cNvPr id="5" name="KubeCon header background">
            <a:extLst>
              <a:ext uri="{FF2B5EF4-FFF2-40B4-BE49-F238E27FC236}">
                <a16:creationId xmlns:a16="http://schemas.microsoft.com/office/drawing/2014/main" id="{772277F7-0A80-497B-A3E8-18F4A2410B13}"/>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11" name="图形 10"/>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26315FC3-40BE-407D-92F3-C4C06CB3691C}"/>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The tool exists; the stack is still forming</a:t>
            </a:r>
          </a:p>
        </p:txBody>
      </p:sp>
    </p:spTree>
    <p:extLst>
      <p:ext uri="{BB962C8B-B14F-4D97-AF65-F5344CB8AC3E}">
        <p14:creationId xmlns:p14="http://schemas.microsoft.com/office/powerpoint/2010/main" val="1317687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age-line">
            <a:extLst>
              <a:ext uri="{FF2B5EF4-FFF2-40B4-BE49-F238E27FC236}">
                <a16:creationId xmlns:a16="http://schemas.microsoft.com/office/drawing/2014/main" id="{750FB629-336A-4161-9C0A-03DF77A2FA04}"/>
              </a:ext>
            </a:extLst>
          </p:cNvPr>
          <p:cNvSpPr>
            <a:spLocks noGrp="1"/>
          </p:cNvSpPr>
          <p:nvPr/>
        </p:nvSpPr>
        <p:spPr>
          <a:xfrm>
            <a:off x="876300" y="2352675"/>
            <a:ext cx="7391400" cy="47625"/>
          </a:xfrm>
          <a:prstGeom prst="rect">
            <a:avLst/>
          </a:prstGeom>
          <a:solidFill>
            <a:srgbClr val="FFA4B9"/>
          </a:solidFill>
          <a:ln w="0">
            <a:solidFill>
              <a:srgbClr val="FFA4B9"/>
            </a:solidFill>
            <a:prstDash val="solid"/>
          </a:ln>
        </p:spPr>
        <p:txBody>
          <a:bodyPr/>
          <a:lstStyle/>
          <a:p>
            <a:endParaRPr/>
          </a:p>
        </p:txBody>
      </p:sp>
      <p:sp>
        <p:nvSpPr>
          <p:cNvPr id="4" name="lineage-node-1">
            <a:extLst>
              <a:ext uri="{FF2B5EF4-FFF2-40B4-BE49-F238E27FC236}">
                <a16:creationId xmlns:a16="http://schemas.microsoft.com/office/drawing/2014/main" id="{EE7DC6B4-E0EA-4C2F-9FCC-AFBADB72EE31}"/>
              </a:ext>
            </a:extLst>
          </p:cNvPr>
          <p:cNvSpPr>
            <a:spLocks noGrp="1"/>
          </p:cNvSpPr>
          <p:nvPr/>
        </p:nvSpPr>
        <p:spPr>
          <a:xfrm>
            <a:off x="742950" y="2076450"/>
            <a:ext cx="704850" cy="609600"/>
          </a:xfrm>
          <a:prstGeom prst="ellipse">
            <a:avLst/>
          </a:prstGeom>
          <a:solidFill>
            <a:srgbClr val="FFFFFF"/>
          </a:solidFill>
          <a:ln w="28575">
            <a:solidFill>
              <a:srgbClr val="FFA4B9"/>
            </a:solidFill>
            <a:prstDash val="solid"/>
          </a:ln>
        </p:spPr>
        <p:txBody>
          <a:bodyPr wrap="square" lIns="76200" tIns="57150" rIns="76200" bIns="57150" anchor="ctr">
            <a:normAutofit/>
          </a:bodyPr>
          <a:lstStyle/>
          <a:p>
            <a:pPr algn="ctr">
              <a:buNone/>
              <a:defRPr sz="1050" b="1">
                <a:solidFill>
                  <a:srgbClr val="00144C"/>
                </a:solidFill>
                <a:latin typeface="Clarity City"/>
                <a:ea typeface="Clarity City"/>
                <a:cs typeface="Clarity City"/>
              </a:defRPr>
            </a:pPr>
            <a:r>
              <a:rPr sz="1050" b="1">
                <a:solidFill>
                  <a:srgbClr val="00144C"/>
                </a:solidFill>
                <a:latin typeface="Clarity City"/>
                <a:ea typeface="Clarity City"/>
                <a:cs typeface="Clarity City"/>
              </a:rPr>
              <a:t>CRI</a:t>
            </a:r>
          </a:p>
        </p:txBody>
      </p:sp>
      <p:sp>
        <p:nvSpPr>
          <p:cNvPr id="5" name="lineage-label-1">
            <a:extLst>
              <a:ext uri="{FF2B5EF4-FFF2-40B4-BE49-F238E27FC236}">
                <a16:creationId xmlns:a16="http://schemas.microsoft.com/office/drawing/2014/main" id="{1E71E253-6349-4E96-A939-4B24BD4A92B2}"/>
              </a:ext>
            </a:extLst>
          </p:cNvPr>
          <p:cNvSpPr>
            <a:spLocks noGrp="1"/>
          </p:cNvSpPr>
          <p:nvPr/>
        </p:nvSpPr>
        <p:spPr>
          <a:xfrm>
            <a:off x="514350" y="2876550"/>
            <a:ext cx="1162050" cy="704850"/>
          </a:xfrm>
          <a:prstGeom prst="rect">
            <a:avLst/>
          </a:prstGeom>
          <a:noFill/>
          <a:ln w="0">
            <a:noFill/>
            <a:prstDash val="solid"/>
          </a:ln>
        </p:spPr>
        <p:txBody>
          <a:bodyPr wrap="square" lIns="0" tIns="0" rIns="0" bIns="0" anchor="t">
            <a:normAutofit/>
          </a:bodyPr>
          <a:lstStyle/>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Container runtime</a:t>
            </a:r>
          </a:p>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contract</a:t>
            </a:r>
          </a:p>
        </p:txBody>
      </p:sp>
      <p:sp>
        <p:nvSpPr>
          <p:cNvPr id="6" name="lineage-node-2">
            <a:extLst>
              <a:ext uri="{FF2B5EF4-FFF2-40B4-BE49-F238E27FC236}">
                <a16:creationId xmlns:a16="http://schemas.microsoft.com/office/drawing/2014/main" id="{95040E0C-50CD-411C-AE60-3CEDBB1355F3}"/>
              </a:ext>
            </a:extLst>
          </p:cNvPr>
          <p:cNvSpPr>
            <a:spLocks noGrp="1"/>
          </p:cNvSpPr>
          <p:nvPr/>
        </p:nvSpPr>
        <p:spPr>
          <a:xfrm>
            <a:off x="2324100" y="2076450"/>
            <a:ext cx="704850" cy="609600"/>
          </a:xfrm>
          <a:prstGeom prst="ellipse">
            <a:avLst/>
          </a:prstGeom>
          <a:solidFill>
            <a:srgbClr val="FFFFFF"/>
          </a:solidFill>
          <a:ln w="28575">
            <a:solidFill>
              <a:srgbClr val="FFA4B9"/>
            </a:solidFill>
            <a:prstDash val="solid"/>
          </a:ln>
        </p:spPr>
        <p:txBody>
          <a:bodyPr wrap="square" lIns="76200" tIns="57150" rIns="76200" bIns="57150" anchor="ctr">
            <a:normAutofit fontScale="85539"/>
          </a:bodyPr>
          <a:lstStyle/>
          <a:p>
            <a:pPr algn="ctr">
              <a:buNone/>
              <a:defRPr sz="1050" b="1">
                <a:solidFill>
                  <a:srgbClr val="00144C"/>
                </a:solidFill>
                <a:latin typeface="Clarity City"/>
                <a:ea typeface="Clarity City"/>
                <a:cs typeface="Clarity City"/>
              </a:defRPr>
            </a:pPr>
            <a:r>
              <a:rPr sz="1050" b="1">
                <a:solidFill>
                  <a:srgbClr val="00144C"/>
                </a:solidFill>
                <a:latin typeface="Clarity City"/>
                <a:ea typeface="Clarity City"/>
                <a:cs typeface="Clarity City"/>
              </a:rPr>
              <a:t>Kata · 2017</a:t>
            </a:r>
          </a:p>
        </p:txBody>
      </p:sp>
      <p:sp>
        <p:nvSpPr>
          <p:cNvPr id="7" name="lineage-label-2">
            <a:extLst>
              <a:ext uri="{FF2B5EF4-FFF2-40B4-BE49-F238E27FC236}">
                <a16:creationId xmlns:a16="http://schemas.microsoft.com/office/drawing/2014/main" id="{4014A89D-2FC7-41D9-8C1A-EEE7970C830B}"/>
              </a:ext>
            </a:extLst>
          </p:cNvPr>
          <p:cNvSpPr>
            <a:spLocks noGrp="1"/>
          </p:cNvSpPr>
          <p:nvPr/>
        </p:nvSpPr>
        <p:spPr>
          <a:xfrm>
            <a:off x="2095500" y="2876550"/>
            <a:ext cx="1162050" cy="704850"/>
          </a:xfrm>
          <a:prstGeom prst="rect">
            <a:avLst/>
          </a:prstGeom>
          <a:noFill/>
          <a:ln w="0">
            <a:noFill/>
            <a:prstDash val="solid"/>
          </a:ln>
        </p:spPr>
        <p:txBody>
          <a:bodyPr wrap="square" lIns="0" tIns="0" rIns="0" bIns="0" anchor="t">
            <a:normAutofit/>
          </a:bodyPr>
          <a:lstStyle/>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VM isolation,</a:t>
            </a:r>
          </a:p>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container workflow</a:t>
            </a:r>
          </a:p>
        </p:txBody>
      </p:sp>
      <p:sp>
        <p:nvSpPr>
          <p:cNvPr id="8" name="lineage-node-3">
            <a:extLst>
              <a:ext uri="{FF2B5EF4-FFF2-40B4-BE49-F238E27FC236}">
                <a16:creationId xmlns:a16="http://schemas.microsoft.com/office/drawing/2014/main" id="{BA15951D-BC64-4DF2-8527-4EA7F22E94C5}"/>
              </a:ext>
            </a:extLst>
          </p:cNvPr>
          <p:cNvSpPr>
            <a:spLocks noGrp="1"/>
          </p:cNvSpPr>
          <p:nvPr/>
        </p:nvSpPr>
        <p:spPr>
          <a:xfrm>
            <a:off x="3905250" y="2076450"/>
            <a:ext cx="704850" cy="609600"/>
          </a:xfrm>
          <a:prstGeom prst="ellipse">
            <a:avLst/>
          </a:prstGeom>
          <a:solidFill>
            <a:srgbClr val="FFFFFF"/>
          </a:solidFill>
          <a:ln w="28575">
            <a:solidFill>
              <a:srgbClr val="FFA4B9"/>
            </a:solidFill>
            <a:prstDash val="solid"/>
          </a:ln>
        </p:spPr>
        <p:txBody>
          <a:bodyPr wrap="square" lIns="76200" tIns="57150" rIns="76200" bIns="57150" anchor="ctr">
            <a:normAutofit fontScale="78646" lnSpcReduction="20000"/>
          </a:bodyPr>
          <a:lstStyle/>
          <a:p>
            <a:pPr algn="ctr">
              <a:buNone/>
              <a:defRPr sz="1050" b="1">
                <a:solidFill>
                  <a:srgbClr val="00144C"/>
                </a:solidFill>
                <a:latin typeface="Clarity City"/>
                <a:ea typeface="Clarity City"/>
                <a:cs typeface="Clarity City"/>
              </a:defRPr>
            </a:pPr>
            <a:r>
              <a:rPr sz="1050" b="1">
                <a:solidFill>
                  <a:srgbClr val="00144C"/>
                </a:solidFill>
                <a:latin typeface="Clarity City"/>
                <a:ea typeface="Clarity City"/>
                <a:cs typeface="Clarity City"/>
              </a:rPr>
              <a:t>IMAGE</a:t>
            </a:r>
          </a:p>
          <a:p>
            <a:pPr algn="ctr">
              <a:buNone/>
              <a:defRPr sz="1050" b="1">
                <a:solidFill>
                  <a:srgbClr val="00144C"/>
                </a:solidFill>
                <a:latin typeface="Clarity City"/>
                <a:ea typeface="Clarity City"/>
                <a:cs typeface="Clarity City"/>
              </a:defRPr>
            </a:pPr>
            <a:r>
              <a:rPr sz="1050" b="1">
                <a:solidFill>
                  <a:srgbClr val="00144C"/>
                </a:solidFill>
                <a:latin typeface="Clarity City"/>
                <a:ea typeface="Clarity City"/>
                <a:cs typeface="Clarity City"/>
              </a:rPr>
              <a:t>PATH</a:t>
            </a:r>
          </a:p>
        </p:txBody>
      </p:sp>
      <p:sp>
        <p:nvSpPr>
          <p:cNvPr id="9" name="lineage-label-3">
            <a:extLst>
              <a:ext uri="{FF2B5EF4-FFF2-40B4-BE49-F238E27FC236}">
                <a16:creationId xmlns:a16="http://schemas.microsoft.com/office/drawing/2014/main" id="{878B2C17-9313-4DAD-9E80-CFA3900930C2}"/>
              </a:ext>
            </a:extLst>
          </p:cNvPr>
          <p:cNvSpPr>
            <a:spLocks noGrp="1"/>
          </p:cNvSpPr>
          <p:nvPr/>
        </p:nvSpPr>
        <p:spPr>
          <a:xfrm>
            <a:off x="3676650" y="2876550"/>
            <a:ext cx="1162050" cy="704850"/>
          </a:xfrm>
          <a:prstGeom prst="rect">
            <a:avLst/>
          </a:prstGeom>
          <a:noFill/>
          <a:ln w="0">
            <a:noFill/>
            <a:prstDash val="solid"/>
          </a:ln>
        </p:spPr>
        <p:txBody>
          <a:bodyPr wrap="square" lIns="0" tIns="0" rIns="0" bIns="0" anchor="t">
            <a:normAutofit/>
          </a:bodyPr>
          <a:lstStyle/>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Dragonfly distribution</a:t>
            </a:r>
          </a:p>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 Nydus lazy loading</a:t>
            </a:r>
          </a:p>
        </p:txBody>
      </p:sp>
      <p:sp>
        <p:nvSpPr>
          <p:cNvPr id="10" name="lineage-node-4">
            <a:extLst>
              <a:ext uri="{FF2B5EF4-FFF2-40B4-BE49-F238E27FC236}">
                <a16:creationId xmlns:a16="http://schemas.microsoft.com/office/drawing/2014/main" id="{9BDAA81F-77AF-4698-AF01-0BA983EE5A0F}"/>
              </a:ext>
            </a:extLst>
          </p:cNvPr>
          <p:cNvSpPr>
            <a:spLocks noGrp="1"/>
          </p:cNvSpPr>
          <p:nvPr/>
        </p:nvSpPr>
        <p:spPr>
          <a:xfrm>
            <a:off x="5486400" y="2076450"/>
            <a:ext cx="704850" cy="609600"/>
          </a:xfrm>
          <a:prstGeom prst="ellipse">
            <a:avLst/>
          </a:prstGeom>
          <a:solidFill>
            <a:srgbClr val="FFFFFF"/>
          </a:solidFill>
          <a:ln w="28575">
            <a:solidFill>
              <a:srgbClr val="FFA4B9"/>
            </a:solidFill>
            <a:prstDash val="solid"/>
          </a:ln>
        </p:spPr>
        <p:txBody>
          <a:bodyPr wrap="square" lIns="76200" tIns="57150" rIns="76200" bIns="57150" anchor="ctr">
            <a:normAutofit/>
          </a:bodyPr>
          <a:lstStyle/>
          <a:p>
            <a:pPr algn="ctr">
              <a:buNone/>
              <a:defRPr sz="1050" b="1">
                <a:solidFill>
                  <a:srgbClr val="00144C"/>
                </a:solidFill>
                <a:latin typeface="Clarity City"/>
                <a:ea typeface="Clarity City"/>
                <a:cs typeface="Clarity City"/>
              </a:defRPr>
            </a:pPr>
            <a:r>
              <a:rPr sz="1050" b="1">
                <a:solidFill>
                  <a:srgbClr val="00144C"/>
                </a:solidFill>
                <a:latin typeface="Clarity City"/>
                <a:ea typeface="Clarity City"/>
                <a:cs typeface="Clarity City"/>
              </a:rPr>
              <a:t>PVM</a:t>
            </a:r>
          </a:p>
        </p:txBody>
      </p:sp>
      <p:sp>
        <p:nvSpPr>
          <p:cNvPr id="11" name="lineage-label-4">
            <a:extLst>
              <a:ext uri="{FF2B5EF4-FFF2-40B4-BE49-F238E27FC236}">
                <a16:creationId xmlns:a16="http://schemas.microsoft.com/office/drawing/2014/main" id="{E6D6C08C-DEA4-46CA-8768-607038E70A01}"/>
              </a:ext>
            </a:extLst>
          </p:cNvPr>
          <p:cNvSpPr>
            <a:spLocks noGrp="1"/>
          </p:cNvSpPr>
          <p:nvPr/>
        </p:nvSpPr>
        <p:spPr>
          <a:xfrm>
            <a:off x="5257800" y="2876550"/>
            <a:ext cx="1162050" cy="704850"/>
          </a:xfrm>
          <a:prstGeom prst="rect">
            <a:avLst/>
          </a:prstGeom>
          <a:noFill/>
          <a:ln w="0">
            <a:noFill/>
            <a:prstDash val="solid"/>
          </a:ln>
        </p:spPr>
        <p:txBody>
          <a:bodyPr wrap="square" lIns="0" tIns="0" rIns="0" bIns="0" anchor="t">
            <a:normAutofit/>
          </a:bodyPr>
          <a:lstStyle/>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Virtualization where</a:t>
            </a:r>
          </a:p>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nested VT is constrained</a:t>
            </a:r>
          </a:p>
        </p:txBody>
      </p:sp>
      <p:sp>
        <p:nvSpPr>
          <p:cNvPr id="12" name="lineage-node-5">
            <a:extLst>
              <a:ext uri="{FF2B5EF4-FFF2-40B4-BE49-F238E27FC236}">
                <a16:creationId xmlns:a16="http://schemas.microsoft.com/office/drawing/2014/main" id="{0E7CFDF3-990E-4583-A966-6297C3838CD0}"/>
              </a:ext>
            </a:extLst>
          </p:cNvPr>
          <p:cNvSpPr>
            <a:spLocks noGrp="1"/>
          </p:cNvSpPr>
          <p:nvPr/>
        </p:nvSpPr>
        <p:spPr>
          <a:xfrm>
            <a:off x="7067550" y="2076450"/>
            <a:ext cx="704850" cy="609600"/>
          </a:xfrm>
          <a:prstGeom prst="ellipse">
            <a:avLst/>
          </a:prstGeom>
          <a:solidFill>
            <a:srgbClr val="3939D8"/>
          </a:solidFill>
          <a:ln w="28575">
            <a:solidFill>
              <a:srgbClr val="3939D8"/>
            </a:solidFill>
            <a:prstDash val="solid"/>
          </a:ln>
        </p:spPr>
        <p:txBody>
          <a:bodyPr wrap="square" lIns="76200" tIns="57150" rIns="76200" bIns="57150" anchor="ctr">
            <a:normAutofit/>
          </a:bodyPr>
          <a:lstStyle/>
          <a:p>
            <a:pPr algn="ctr">
              <a:buNone/>
              <a:defRPr sz="1050" b="1">
                <a:solidFill>
                  <a:srgbClr val="FFFFFF"/>
                </a:solidFill>
                <a:latin typeface="Clarity City"/>
                <a:ea typeface="Clarity City"/>
                <a:cs typeface="Clarity City"/>
              </a:defRPr>
            </a:pPr>
            <a:r>
              <a:rPr sz="1050" b="1">
                <a:solidFill>
                  <a:srgbClr val="FFFFFF"/>
                </a:solidFill>
                <a:latin typeface="Clarity City"/>
                <a:ea typeface="Clarity City"/>
                <a:cs typeface="Clarity City"/>
              </a:rPr>
              <a:t>Xolis</a:t>
            </a:r>
          </a:p>
        </p:txBody>
      </p:sp>
      <p:sp>
        <p:nvSpPr>
          <p:cNvPr id="13" name="lineage-label-5">
            <a:extLst>
              <a:ext uri="{FF2B5EF4-FFF2-40B4-BE49-F238E27FC236}">
                <a16:creationId xmlns:a16="http://schemas.microsoft.com/office/drawing/2014/main" id="{7A6D2D1C-96BB-4898-B4F3-AC4AE42E912C}"/>
              </a:ext>
            </a:extLst>
          </p:cNvPr>
          <p:cNvSpPr>
            <a:spLocks noGrp="1"/>
          </p:cNvSpPr>
          <p:nvPr/>
        </p:nvSpPr>
        <p:spPr>
          <a:xfrm>
            <a:off x="6838950" y="2876550"/>
            <a:ext cx="1162050" cy="704850"/>
          </a:xfrm>
          <a:prstGeom prst="rect">
            <a:avLst/>
          </a:prstGeom>
          <a:noFill/>
          <a:ln w="0">
            <a:noFill/>
            <a:prstDash val="solid"/>
          </a:ln>
        </p:spPr>
        <p:txBody>
          <a:bodyPr wrap="square" lIns="0" tIns="0" rIns="0" bIns="0" anchor="t">
            <a:normAutofit/>
          </a:bodyPr>
          <a:lstStyle/>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Compose, validate,</a:t>
            </a:r>
          </a:p>
          <a:p>
            <a:pPr algn="ctr">
              <a:buNone/>
              <a:defRPr sz="1050" b="0">
                <a:solidFill>
                  <a:srgbClr val="5A6275"/>
                </a:solidFill>
                <a:latin typeface="Clarity City"/>
                <a:ea typeface="Clarity City"/>
                <a:cs typeface="Clarity City"/>
              </a:defRPr>
            </a:pPr>
            <a:r>
              <a:rPr sz="1050" b="0">
                <a:solidFill>
                  <a:srgbClr val="5A6275"/>
                </a:solidFill>
                <a:latin typeface="Clarity City"/>
                <a:ea typeface="Clarity City"/>
                <a:cs typeface="Clarity City"/>
              </a:rPr>
              <a:t>contribute upstream</a:t>
            </a:r>
          </a:p>
        </p:txBody>
      </p:sp>
      <p:sp>
        <p:nvSpPr>
          <p:cNvPr id="14" name="lineage-caption">
            <a:extLst>
              <a:ext uri="{FF2B5EF4-FFF2-40B4-BE49-F238E27FC236}">
                <a16:creationId xmlns:a16="http://schemas.microsoft.com/office/drawing/2014/main" id="{00149AD4-F9C6-4216-9C80-7B6F70EDC85D}"/>
              </a:ext>
            </a:extLst>
          </p:cNvPr>
          <p:cNvSpPr>
            <a:spLocks noGrp="1"/>
          </p:cNvSpPr>
          <p:nvPr/>
        </p:nvSpPr>
        <p:spPr>
          <a:xfrm>
            <a:off x="1257300" y="3781425"/>
            <a:ext cx="6629400" cy="323850"/>
          </a:xfrm>
          <a:prstGeom prst="rect">
            <a:avLst/>
          </a:prstGeom>
          <a:noFill/>
          <a:ln w="0">
            <a:noFill/>
            <a:prstDash val="solid"/>
          </a:ln>
        </p:spPr>
        <p:txBody>
          <a:bodyPr wrap="square" lIns="0" tIns="0" rIns="0" bIns="0" anchor="ctr">
            <a:normAutofit/>
          </a:bodyPr>
          <a:lstStyle/>
          <a:p>
            <a:pPr algn="ctr">
              <a:buNone/>
              <a:defRPr sz="1200" b="1">
                <a:solidFill>
                  <a:srgbClr val="3939D8"/>
                </a:solidFill>
                <a:latin typeface="Clarity City"/>
                <a:ea typeface="Clarity City"/>
                <a:cs typeface="Clarity City"/>
              </a:defRPr>
            </a:pPr>
            <a:r>
              <a:rPr sz="1200" b="1">
                <a:solidFill>
                  <a:srgbClr val="3939D8"/>
                </a:solidFill>
                <a:latin typeface="Clarity City"/>
                <a:ea typeface="Clarity City"/>
                <a:cs typeface="Clarity City"/>
              </a:rPr>
              <a:t>The contribution is integration discipline—not another private runtime stack.</a:t>
            </a:r>
          </a:p>
        </p:txBody>
      </p:sp>
      <p:sp>
        <p:nvSpPr>
          <p:cNvPr id="15" name="KubeCon header background">
            <a:extLst>
              <a:ext uri="{FF2B5EF4-FFF2-40B4-BE49-F238E27FC236}">
                <a16:creationId xmlns:a16="http://schemas.microsoft.com/office/drawing/2014/main" id="{FD495B76-DA0A-4F27-9FB5-8E01FDF98228}"/>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31" name="图形 30"/>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80002F4E-BDC9-4292-00F6-25D8D1D6E346}"/>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A decade of upstream work converges here</a:t>
            </a:r>
          </a:p>
        </p:txBody>
      </p:sp>
    </p:spTree>
    <p:extLst>
      <p:ext uri="{BB962C8B-B14F-4D97-AF65-F5344CB8AC3E}">
        <p14:creationId xmlns:p14="http://schemas.microsoft.com/office/powerpoint/2010/main" val="1581687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B2A2A4-192E-3B9D-4591-457BCD33F865}"/>
              </a:ext>
            </a:extLst>
          </p:cNvPr>
          <p:cNvSpPr>
            <a:spLocks noGrp="1"/>
          </p:cNvSpPr>
          <p:nvPr>
            <p:ph type="body" idx="1"/>
          </p:nvPr>
        </p:nvSpPr>
        <p:spPr/>
        <p:txBody>
          <a:bodyPr/>
          <a:lstStyle/>
          <a:p>
            <a:pPr>
              <a:spcAft>
                <a:spcPts val="18"/>
              </a:spcAft>
              <a:buNone/>
            </a:pPr>
            <a:r>
              <a:rPr b="1">
                <a:solidFill>
                  <a:srgbClr val="3939D8"/>
                </a:solidFill>
              </a:rPr>
              <a:t>DESIGN PRINCIPLES</a:t>
            </a:r>
          </a:p>
          <a:p>
            <a:pPr>
              <a:spcAft>
                <a:spcPts val="12"/>
              </a:spcAft>
              <a:buNone/>
            </a:pPr>
            <a:r>
              <a:rPr b="0"/>
              <a:t>Upstream projects before private forks</a:t>
            </a:r>
          </a:p>
          <a:p>
            <a:pPr>
              <a:spcAft>
                <a:spcPts val="12"/>
              </a:spcAft>
              <a:buNone/>
            </a:pPr>
            <a:r>
              <a:rPr b="0"/>
              <a:t>Replaceable layers with standard contracts</a:t>
            </a:r>
          </a:p>
          <a:p>
            <a:pPr>
              <a:spcAft>
                <a:spcPts val="12"/>
              </a:spcAft>
              <a:buNone/>
            </a:pPr>
            <a:r>
              <a:rPr b="0"/>
              <a:t>Dedicated runtime pools with explicit policy</a:t>
            </a:r>
          </a:p>
          <a:p>
            <a:pPr>
              <a:spcAft>
                <a:spcPts val="12"/>
              </a:spcAft>
              <a:buNone/>
            </a:pPr>
            <a:r>
              <a:rPr b="0"/>
              <a:t>Cleanup is part of correctness</a:t>
            </a:r>
          </a:p>
        </p:txBody>
      </p:sp>
      <p:sp>
        <p:nvSpPr>
          <p:cNvPr id="4" name="Text Placeholder 3">
            <a:extLst>
              <a:ext uri="{FF2B5EF4-FFF2-40B4-BE49-F238E27FC236}">
                <a16:creationId xmlns:a16="http://schemas.microsoft.com/office/drawing/2014/main" id="{3864F587-4A71-B1B9-FAD1-6361775AB840}"/>
              </a:ext>
            </a:extLst>
          </p:cNvPr>
          <p:cNvSpPr>
            <a:spLocks noGrp="1"/>
          </p:cNvSpPr>
          <p:nvPr>
            <p:ph type="body" idx="2"/>
          </p:nvPr>
        </p:nvSpPr>
        <p:spPr/>
        <p:txBody>
          <a:bodyPr/>
          <a:lstStyle/>
          <a:p>
            <a:pPr>
              <a:spcAft>
                <a:spcPts val="18"/>
              </a:spcAft>
              <a:buNone/>
            </a:pPr>
            <a:r>
              <a:rPr b="1">
                <a:solidFill>
                  <a:srgbClr val="3939D8"/>
                </a:solidFill>
              </a:rPr>
              <a:t>CONTRIBUTE THE MISSING PROOF</a:t>
            </a:r>
          </a:p>
          <a:p>
            <a:pPr>
              <a:spcAft>
                <a:spcPts val="12"/>
              </a:spcAft>
              <a:buNone/>
            </a:pPr>
            <a:r>
              <a:rPr b="0"/>
              <a:t>Implement AWS modules and manifests</a:t>
            </a:r>
          </a:p>
          <a:p>
            <a:pPr>
              <a:spcAft>
                <a:spcPts val="12"/>
              </a:spcAft>
              <a:buNone/>
            </a:pPr>
            <a:r>
              <a:rPr b="0"/>
              <a:t>Validate the Agent Sandbox contract</a:t>
            </a:r>
          </a:p>
          <a:p>
            <a:pPr>
              <a:spcAft>
                <a:spcPts val="12"/>
              </a:spcAft>
              <a:buNone/>
            </a:pPr>
            <a:r>
              <a:rPr b="0"/>
              <a:t>Measure startup, density, and cost</a:t>
            </a:r>
          </a:p>
          <a:p>
            <a:pPr>
              <a:spcAft>
                <a:spcPts val="12"/>
              </a:spcAft>
              <a:buNone/>
            </a:pPr>
            <a:r>
              <a:rPr b="0"/>
              <a:t>Publish results and fixes upstream</a:t>
            </a:r>
          </a:p>
        </p:txBody>
      </p:sp>
      <p:sp>
        <p:nvSpPr>
          <p:cNvPr id="5" name="KubeCon header background">
            <a:extLst>
              <a:ext uri="{FF2B5EF4-FFF2-40B4-BE49-F238E27FC236}">
                <a16:creationId xmlns:a16="http://schemas.microsoft.com/office/drawing/2014/main" id="{E52B15C3-8610-495D-9391-121FC18722FB}"/>
              </a:ext>
            </a:extLst>
          </p:cNvPr>
          <p:cNvSpPr>
            <a:spLocks noGrp="1"/>
          </p:cNvSpPr>
          <p:nvPr/>
        </p:nvSpPr>
        <p:spPr>
          <a:xfrm>
            <a:off x="7144" y="5620"/>
            <a:ext cx="9136856" cy="1047941"/>
          </a:xfrm>
          <a:prstGeom prst="rect">
            <a:avLst/>
          </a:prstGeom>
          <a:solidFill>
            <a:srgbClr val="3939D9"/>
          </a:solidFill>
          <a:ln w="0">
            <a:noFill/>
            <a:prstDash val="solid"/>
          </a:ln>
        </p:spPr>
        <p:txBody>
          <a:bodyPr/>
          <a:lstStyle/>
          <a:p>
            <a:endParaRPr lang="zh-CN" altLang="en-US"/>
          </a:p>
        </p:txBody>
      </p:sp>
      <p:pic>
        <p:nvPicPr>
          <p:cNvPr id="11" name="图形 10"/>
          <p:cNvPicPr>
            <a:picLocks noChangeAspect="1"/>
          </p:cNvPicPr>
          <p:nvPr/>
        </p:nvPicPr>
        <p:blipFill>
          <a:blip>
            <a:extLst>
              <a:ext uri="{96DAC541-7B7A-43D3-8B79-37D633B846F1}">
                <asvg:svgBlip xmlns:asvg="http://schemas.microsoft.com/office/drawing/2016/SVG/main" r:embed="rId3"/>
              </a:ext>
            </a:extLst>
          </a:blip>
          <a:stretch/>
        </p:blipFill>
        <p:spPr>
          <a:xfrm>
            <a:off x="7586472" y="262319"/>
            <a:ext cx="1245775" cy="547402"/>
          </a:xfrm>
          <a:prstGeom prst="rect">
            <a:avLst/>
          </a:prstGeom>
        </p:spPr>
      </p:pic>
      <p:sp>
        <p:nvSpPr>
          <p:cNvPr id="2" name="Title 1">
            <a:extLst>
              <a:ext uri="{FF2B5EF4-FFF2-40B4-BE49-F238E27FC236}">
                <a16:creationId xmlns:a16="http://schemas.microsoft.com/office/drawing/2014/main" id="{26315FC3-40BE-407D-92F3-C4C06CB3691C}"/>
              </a:ext>
            </a:extLst>
          </p:cNvPr>
          <p:cNvSpPr>
            <a:spLocks noGrp="1"/>
          </p:cNvSpPr>
          <p:nvPr>
            <p:ph type="title"/>
          </p:nvPr>
        </p:nvSpPr>
        <p:spPr>
          <a:xfrm>
            <a:off x="311658" y="0"/>
            <a:ext cx="6949726" cy="1047941"/>
          </a:xfrm>
        </p:spPr>
        <p:txBody>
          <a:bodyPr anchor="ctr">
            <a:normAutofit/>
          </a:bodyPr>
          <a:lstStyle/>
          <a:p>
            <a:pPr algn="l">
              <a:defRPr sz="2800" b="1">
                <a:solidFill>
                  <a:srgbClr val="FFFFFF"/>
                </a:solidFill>
              </a:defRPr>
            </a:pPr>
            <a:r>
              <a:rPr sz="2800" b="1">
                <a:solidFill>
                  <a:srgbClr val="FFFFFF"/>
                </a:solidFill>
              </a:rPr>
              <a:t>Build upstream first; measure every boundary</a:t>
            </a:r>
          </a:p>
        </p:txBody>
      </p:sp>
    </p:spTree>
    <p:extLst>
      <p:ext uri="{BB962C8B-B14F-4D97-AF65-F5344CB8AC3E}">
        <p14:creationId xmlns:p14="http://schemas.microsoft.com/office/powerpoint/2010/main" val="1317687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3D73-053E-C445-36DA-CFC138907C5A}"/>
              </a:ext>
            </a:extLst>
          </p:cNvPr>
          <p:cNvSpPr>
            <a:spLocks noGrp="1"/>
          </p:cNvSpPr>
          <p:nvPr>
            <p:ph type="ctrTitle"/>
          </p:nvPr>
        </p:nvSpPr>
        <p:spPr/>
        <p:txBody>
          <a:bodyPr/>
          <a:lstStyle/>
          <a:p>
            <a:r>
              <a:t>Secure agents by composing proven cloud native boundaries</a:t>
            </a:r>
          </a:p>
        </p:txBody>
      </p:sp>
      <p:sp>
        <p:nvSpPr>
          <p:cNvPr id="3" name="Subtitle 2">
            <a:extLst>
              <a:ext uri="{FF2B5EF4-FFF2-40B4-BE49-F238E27FC236}">
                <a16:creationId xmlns:a16="http://schemas.microsoft.com/office/drawing/2014/main" id="{E82210E2-AA8D-B4C1-53B4-5EE54D0E3F32}"/>
              </a:ext>
            </a:extLst>
          </p:cNvPr>
          <p:cNvSpPr>
            <a:spLocks noGrp="1"/>
          </p:cNvSpPr>
          <p:nvPr>
            <p:ph type="subTitle" idx="1"/>
          </p:nvPr>
        </p:nvSpPr>
        <p:spPr/>
        <p:txBody>
          <a:bodyPr/>
          <a:lstStyle/>
          <a:p>
            <a:r>
              <a:t>github.com/gnawux/xolis · Q&amp;A</a:t>
            </a:r>
          </a:p>
        </p:txBody>
      </p:sp>
    </p:spTree>
    <p:extLst>
      <p:ext uri="{BB962C8B-B14F-4D97-AF65-F5344CB8AC3E}">
        <p14:creationId xmlns:p14="http://schemas.microsoft.com/office/powerpoint/2010/main" val="1113421691"/>
      </p:ext>
    </p:extLst>
  </p:cSld>
  <p:clrMapOvr>
    <a:masterClrMapping/>
  </p:clrMapOvr>
</p:sld>
</file>

<file path=ppt/theme/theme1.xml><?xml version="1.0" encoding="utf-8"?>
<a:theme xmlns:a="http://schemas.openxmlformats.org/drawingml/2006/main" name="OSSNA24">
  <a:themeElements>
    <a:clrScheme name="Custom 6">
      <a:dk1>
        <a:srgbClr val="000000"/>
      </a:dk1>
      <a:lt1>
        <a:srgbClr val="FFFFFF"/>
      </a:lt1>
      <a:dk2>
        <a:srgbClr val="000000"/>
      </a:dk2>
      <a:lt2>
        <a:srgbClr val="EEEEEE"/>
      </a:lt2>
      <a:accent1>
        <a:srgbClr val="3939D8"/>
      </a:accent1>
      <a:accent2>
        <a:srgbClr val="262267"/>
      </a:accent2>
      <a:accent3>
        <a:srgbClr val="305BA9"/>
      </a:accent3>
      <a:accent4>
        <a:srgbClr val="B0DDFF"/>
      </a:accent4>
      <a:accent5>
        <a:srgbClr val="FFC217"/>
      </a:accent5>
      <a:accent6>
        <a:srgbClr val="FFA35F"/>
      </a:accent6>
      <a:hlink>
        <a:srgbClr val="FF7F15"/>
      </a:hlink>
      <a:folHlink>
        <a:srgbClr val="FFA3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SSNA24">
  <a:themeElements>
    <a:clrScheme name="Custom 6">
      <a:dk1>
        <a:srgbClr val="000000"/>
      </a:dk1>
      <a:lt1>
        <a:srgbClr val="FFFFFF"/>
      </a:lt1>
      <a:dk2>
        <a:srgbClr val="000000"/>
      </a:dk2>
      <a:lt2>
        <a:srgbClr val="EEEEEE"/>
      </a:lt2>
      <a:accent1>
        <a:srgbClr val="3939D8"/>
      </a:accent1>
      <a:accent2>
        <a:srgbClr val="262267"/>
      </a:accent2>
      <a:accent3>
        <a:srgbClr val="305BA9"/>
      </a:accent3>
      <a:accent4>
        <a:srgbClr val="B0DDFF"/>
      </a:accent4>
      <a:accent5>
        <a:srgbClr val="FFC217"/>
      </a:accent5>
      <a:accent6>
        <a:srgbClr val="FFA35F"/>
      </a:accent6>
      <a:hlink>
        <a:srgbClr val="FF7F15"/>
      </a:hlink>
      <a:folHlink>
        <a:srgbClr val="FFA3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2364</Words>
  <Application>Microsoft Macintosh PowerPoint</Application>
  <DocSecurity>0</DocSecurity>
  <PresentationFormat>全屏显示(16:9)</PresentationFormat>
  <Paragraphs>302</Paragraphs>
  <Slides>16</Slides>
  <Notes>16</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16</vt:i4>
      </vt:variant>
    </vt:vector>
  </HeadingPairs>
  <TitlesOfParts>
    <vt:vector size="19" baseType="lpstr">
      <vt:lpstr>Clarity City</vt:lpstr>
      <vt:lpstr>Arial</vt:lpstr>
      <vt:lpstr>OSSNA24</vt:lpstr>
      <vt:lpstr>Sandbox for Agentic Application with Cloud Native Stack</vt:lpstr>
      <vt:lpstr>Agent tools need a stronger boundary</vt:lpstr>
      <vt:lpstr>A sandbox is a lifecycle—not a Pod</vt:lpstr>
      <vt:lpstr>Strong isolation needs a separate kernel</vt:lpstr>
      <vt:lpstr>Compose, do not reinvent</vt:lpstr>
      <vt:lpstr>One stack, two planes, one security boundary</vt:lpstr>
      <vt:lpstr>Kubernetes stays the control plane</vt:lpstr>
      <vt:lpstr>Kata defines the boundary; PVM widens reach</vt:lpstr>
      <vt:lpstr>Nydus and Dragonfly move less data, sooner</vt:lpstr>
      <vt:lpstr>Disposability requires guaranteed cleanup</vt:lpstr>
      <vt:lpstr>Xolis separates durable and disposable work</vt:lpstr>
      <vt:lpstr>Demo: one command runs the full cycle</vt:lpstr>
      <vt:lpstr>The tool exists; the stack is still forming</vt:lpstr>
      <vt:lpstr>A decade of upstream work converges here</vt:lpstr>
      <vt:lpstr>Build upstream first; measure every boundary</vt:lpstr>
      <vt:lpstr>Secure agents by composing proven cloud native boundaries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Xu Wang</cp:lastModifiedBy>
  <cp:revision>2</cp:revision>
  <dcterms:created xsi:type="dcterms:W3CDTF">2026-07-26T15:20:51Z</dcterms:created>
  <dcterms:modified xsi:type="dcterms:W3CDTF">2026-07-26T16:08:45Z</dcterms:modified>
</cp:coreProperties>
</file>